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D3"/>
                </a:solidFill>
              </a:defRPr>
            </a:pPr>
            <a:r>
              <a:t>GodBlade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F0F0"/>
                </a:solidFill>
              </a:defRPr>
            </a:pPr>
            <a:r>
              <a:t>NewGachaPattern</a:t>
            </a:r>
            <a:br/>
            <a:r>
              <a:t>뽑기 시스템 기획서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</a:defRPr>
            </a:pPr>
            <a:r>
              <a:t>SIGIL S3 Design Document  |  2026-03-06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</a:defRPr>
            </a:pPr>
            <a:r>
              <a:t>BuyGacha 프로토콜 100% 재사용  |  서버 로직 집중  |  클라이언트 연출만 변경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</a:defRPr>
            </a:pPr>
            <a:r>
              <a:t>1. 시스템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</a:defRPr>
            </a:pPr>
            <a:r>
              <a:t>항목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188720"/>
            <a:ext cx="4114800" cy="54864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1280160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</a:defRPr>
            </a:pPr>
            <a:r>
              <a:t>기존 뽑기 (ShopGacha)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188720"/>
            <a:ext cx="4572000" cy="54864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</a:defRPr>
            </a:pPr>
            <a:r>
              <a:t>NewGachaPattern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74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</a:defRPr>
            </a:pPr>
            <a:r>
              <a:t>당첨 결정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783080"/>
            <a:ext cx="4114800" cy="54864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0" y="1874520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</a:defRPr>
            </a:pPr>
            <a:r>
              <a:t>확률 기반 (GradeGroup)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783080"/>
            <a:ext cx="4572000" cy="54864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18745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D3"/>
                </a:solidFill>
              </a:defRPr>
            </a:pPr>
            <a:r>
              <a:t>패턴값 기반 (Pattern01~100)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37744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4688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</a:defRPr>
            </a:pPr>
            <a:r>
              <a:t>보상 구조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2377440"/>
            <a:ext cx="4114800" cy="54864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0" y="2468880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</a:defRPr>
            </a:pPr>
            <a:r>
              <a:t>아이템 직접 지정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2377440"/>
            <a:ext cx="4572000" cy="54864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24688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D3"/>
                </a:solidFill>
              </a:defRPr>
            </a:pPr>
            <a:r>
              <a:t>당첨금 → 분해 → 쌍 아이템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97180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063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</a:defRPr>
            </a:pPr>
            <a:r>
              <a:t>UI 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2971800"/>
            <a:ext cx="4114800" cy="54864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0" y="3063240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</a:defRPr>
            </a:pPr>
            <a:r>
              <a:t>뽑힌 아이템만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2971800"/>
            <a:ext cx="4572000" cy="54864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30632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D3"/>
                </a:solidFill>
              </a:defRPr>
            </a:pPr>
            <a:r>
              <a:t>항상 10개 (보상 + 필러)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56616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36576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</a:defRPr>
            </a:pPr>
            <a:r>
              <a:t>유저 추적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3566160"/>
            <a:ext cx="4114800" cy="54864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0" y="3657600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</a:defRPr>
            </a:pPr>
            <a:r>
              <a:t>ShopBuyCount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3566160"/>
            <a:ext cx="4572000" cy="54864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D3"/>
                </a:solidFill>
              </a:defRPr>
            </a:pPr>
            <a:r>
              <a:t>복합키 3개 (가격대별)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16052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251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</a:defRPr>
            </a:pPr>
            <a:r>
              <a:t>천장 시스템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60320" y="4160520"/>
            <a:ext cx="4114800" cy="54864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0" y="4251960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</a:defRPr>
            </a:pPr>
            <a:r>
              <a:t>없음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4160520"/>
            <a:ext cx="4572000" cy="54864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0" y="42519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D3"/>
                </a:solidFill>
              </a:defRPr>
            </a:pPr>
            <a:r>
              <a:t>100슬롯 + 소프트 피티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84632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15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" y="49377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E676"/>
                </a:solidFill>
              </a:defRPr>
            </a:pPr>
            <a:r>
              <a:t>프로토콜 전략: BuyGacha 100% 재사용</a:t>
            </a:r>
          </a:p>
          <a:p>
            <a:pPr>
              <a:spcAft>
                <a:spcPts val="400"/>
              </a:spcAft>
              <a:defRPr sz="1400" b="0">
                <a:solidFill>
                  <a:srgbClr val="B0B0C0"/>
                </a:solidFill>
              </a:defRPr>
            </a:pPr>
            <a:r>
              <a:t>Request 변경 없음 | Response 변경 없음 | BuyGachaEvent 변경 없음</a:t>
            </a:r>
          </a:p>
          <a:p>
            <a:pPr>
              <a:spcAft>
                <a:spcPts val="400"/>
              </a:spcAft>
              <a:defRPr sz="1400" b="0">
                <a:solidFill>
                  <a:srgbClr val="F0F0F0"/>
                </a:solidFill>
              </a:defRPr>
            </a:pPr>
            <a:r>
              <a:t>서버 BuyGachaService에서 gachaType 분기 → NewGachaPattern 전용 로직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4000" y="254000"/>
            <a:ext cx="11684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</a:defRPr>
            </a:pPr>
            <a:r>
              <a:t>2. 패턴 Row 할당 플로우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4000" y="1079500"/>
            <a:ext cx="2032000" cy="24765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6000" y="1206500"/>
            <a:ext cx="508000" cy="5080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6000" y="1206500"/>
            <a:ext cx="508000" cy="5080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>
              <a:defRPr sz="2000" b="1">
                <a:solidFill>
                  <a:srgbClr val="F0F0F0"/>
                </a:solidFill>
              </a:defRPr>
            </a:pPr>
            <a:r>
              <a:rPr sz="160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" y="1816100"/>
            <a:ext cx="182880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1">
                <a:solidFill>
                  <a:srgbClr val="F0F0F0"/>
                </a:solidFill>
              </a:defRPr>
            </a:pPr>
            <a:r>
              <a:rPr sz="1400"/>
              <a:t>GachaPriceCode 매칭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600" y="2374900"/>
            <a:ext cx="1828800" cy="1079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200" b="0">
                <a:solidFill>
                  <a:srgbClr val="B0B0C0"/>
                </a:solidFill>
              </a:defRPr>
            </a:pPr>
            <a:r>
              <a:rPr sz="1300"/>
              <a:t>100 / 1000 / 10000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01850"/>
            <a:ext cx="381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5CE7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7000" y="1079500"/>
            <a:ext cx="2032000" cy="24765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29000" y="1206500"/>
            <a:ext cx="508000" cy="508000"/>
          </a:xfrm>
          <a:prstGeom prst="ellipse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206500"/>
            <a:ext cx="508000" cy="5080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>
              <a:defRPr sz="2000" b="1">
                <a:solidFill>
                  <a:srgbClr val="F0F0F0"/>
                </a:solidFill>
              </a:defRPr>
            </a:pPr>
            <a:r>
              <a:rPr sz="160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8600" y="1816100"/>
            <a:ext cx="182880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1">
                <a:solidFill>
                  <a:srgbClr val="F0F0F0"/>
                </a:solidFill>
              </a:defRPr>
            </a:pPr>
            <a:r>
              <a:rPr sz="1400"/>
              <a:t>기존 할당 Row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8600" y="2374900"/>
            <a:ext cx="1828800" cy="1079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200" b="0">
                <a:solidFill>
                  <a:srgbClr val="B0B0C0"/>
                </a:solidFill>
              </a:defRPr>
            </a:pPr>
            <a:r>
              <a:rPr sz="1300"/>
              <a:t>price_code별 복합키 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9000" y="2101850"/>
            <a:ext cx="381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5CE7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0" y="1079500"/>
            <a:ext cx="2032000" cy="24765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42000" y="1206500"/>
            <a:ext cx="508000" cy="508000"/>
          </a:xfrm>
          <a:prstGeom prst="ellipse">
            <a:avLst/>
          </a:prstGeom>
          <a:solidFill>
            <a:srgbClr val="FD7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42000" y="1206500"/>
            <a:ext cx="508000" cy="5080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>
              <a:defRPr sz="2000" b="1">
                <a:solidFill>
                  <a:srgbClr val="F0F0F0"/>
                </a:solidFill>
              </a:defRPr>
            </a:pPr>
            <a:r>
              <a:rPr sz="160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1600" y="1816100"/>
            <a:ext cx="182880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1">
                <a:solidFill>
                  <a:srgbClr val="F0F0F0"/>
                </a:solidFill>
              </a:defRPr>
            </a:pPr>
            <a:r>
              <a:rPr sz="1400"/>
              <a:t>Row 없음 → 새 할당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600" y="2374900"/>
            <a:ext cx="1828800" cy="1079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200" b="0">
                <a:solidFill>
                  <a:srgbClr val="B0B0C0"/>
                </a:solidFill>
              </a:defRPr>
            </a:pPr>
            <a:r>
              <a:rPr sz="1300"/>
              <a:t>PageGroup 오름차순</a:t>
            </a:r>
            <a:br>
              <a:rPr sz="1300"/>
            </a:br>
            <a:r>
              <a:rPr sz="1300"/>
              <a:t>DB 원자적 선점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0" y="2101850"/>
            <a:ext cx="381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5CE7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3000" y="1079500"/>
            <a:ext cx="2032000" cy="24765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55000" y="1206500"/>
            <a:ext cx="508000" cy="5080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5000" y="1206500"/>
            <a:ext cx="508000" cy="5080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>
              <a:defRPr sz="2000" b="1">
                <a:solidFill>
                  <a:srgbClr val="F0F0F0"/>
                </a:solidFill>
              </a:defRPr>
            </a:pPr>
            <a:r>
              <a:rPr sz="160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4600" y="1816100"/>
            <a:ext cx="182880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1">
                <a:solidFill>
                  <a:srgbClr val="F0F0F0"/>
                </a:solidFill>
              </a:defRPr>
            </a:pPr>
            <a:r>
              <a:rPr sz="1400"/>
              <a:t>Pattern 순차 소비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4600" y="2374900"/>
            <a:ext cx="1828800" cy="1079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200" b="0">
                <a:solidFill>
                  <a:srgbClr val="B0B0C0"/>
                </a:solidFill>
              </a:defRPr>
            </a:pPr>
            <a:r>
              <a:rPr sz="1300"/>
              <a:t>CurrentSlotIndex += 1</a:t>
            </a:r>
            <a:br>
              <a:rPr sz="1300"/>
            </a:br>
            <a:r>
              <a:rPr sz="1300"/>
              <a:t>(01→02→...→100)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0" y="2101850"/>
            <a:ext cx="381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5CE7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06000" y="1079500"/>
            <a:ext cx="2032000" cy="24765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668000" y="1206500"/>
            <a:ext cx="508000" cy="508000"/>
          </a:xfrm>
          <a:prstGeom prst="ellipse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68000" y="1206500"/>
            <a:ext cx="508000" cy="5080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>
              <a:defRPr sz="2000" b="1">
                <a:solidFill>
                  <a:srgbClr val="F0F0F0"/>
                </a:solidFill>
              </a:defRPr>
            </a:pPr>
            <a:r>
              <a:rPr sz="1600"/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7600" y="1816100"/>
            <a:ext cx="182880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1">
                <a:solidFill>
                  <a:srgbClr val="F0F0F0"/>
                </a:solidFill>
              </a:defRPr>
            </a:pPr>
            <a:r>
              <a:rPr sz="1400"/>
              <a:t>100슬롯 소진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7600" y="2374900"/>
            <a:ext cx="1828800" cy="1079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200" b="0">
                <a:solidFill>
                  <a:srgbClr val="B0B0C0"/>
                </a:solidFill>
              </a:defRPr>
            </a:pPr>
            <a:r>
              <a:rPr sz="1300"/>
              <a:t>복합키 해제</a:t>
            </a:r>
            <a:br>
              <a:rPr sz="1300"/>
            </a:br>
            <a:r>
              <a:rPr sz="1300"/>
              <a:t>다음 뽑기 시 새 Row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4000" y="3835400"/>
            <a:ext cx="5753100" cy="27940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1800" y="3987800"/>
            <a:ext cx="5397500" cy="248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D2D3"/>
                </a:solidFill>
              </a:defRPr>
            </a:pPr>
            <a:r>
              <a:rPr sz="1400"/>
              <a:t>복합키 규칙</a:t>
            </a:r>
          </a:p>
          <a:p>
            <a:pPr>
              <a:spcAft>
                <a:spcPts val="400"/>
              </a:spcAft>
              <a:defRPr sz="1400" b="0">
                <a:solidFill>
                  <a:srgbClr val="F0F0F0"/>
                </a:solidFill>
              </a:defRPr>
            </a:pPr>
            <a:r>
              <a:rPr sz="1400"/>
              <a:t>유저당 최대 3개 (가격대별 1개씩)</a:t>
            </a:r>
          </a:p>
          <a:p>
            <a:pPr>
              <a:spcAft>
                <a:spcPts val="400"/>
              </a:spcAft>
              <a:defRPr sz="1400" b="0">
                <a:solidFill>
                  <a:srgbClr val="F0F0F0"/>
                </a:solidFill>
              </a:defRPr>
            </a:pPr>
            <a:r>
              <a:rPr sz="1400"/>
              <a:t>중복 지급 금지 — DB 원자적 선점으로 보장</a:t>
            </a:r>
          </a:p>
          <a:p>
            <a:pPr>
              <a:spcAft>
                <a:spcPts val="400"/>
              </a:spcAft>
              <a:defRPr sz="1400" b="0">
                <a:solidFill>
                  <a:srgbClr val="F0F0F0"/>
                </a:solidFill>
              </a:defRPr>
            </a:pPr>
            <a:r>
              <a:rPr sz="1400"/>
              <a:t>PageGroup N 전부 소진 → N+1 이동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4900" y="3835400"/>
            <a:ext cx="5753100" cy="27940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62700" y="3987800"/>
            <a:ext cx="5397500" cy="248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E676"/>
                </a:solidFill>
              </a:defRPr>
            </a:pPr>
            <a:r>
              <a:rPr sz="1400"/>
              <a:t>순차 소비 (01→100)</a:t>
            </a:r>
          </a:p>
          <a:p>
            <a:pPr>
              <a:spcAft>
                <a:spcPts val="400"/>
              </a:spcAft>
              <a:defRPr sz="1400" b="0">
                <a:solidFill>
                  <a:srgbClr val="F0F0F0"/>
                </a:solidFill>
              </a:defRPr>
            </a:pPr>
            <a:r>
              <a:rPr sz="1400"/>
              <a:t>int 1개(CurrentSlotIndex)로 상태 관리</a:t>
            </a:r>
          </a:p>
          <a:p>
            <a:pPr>
              <a:spcAft>
                <a:spcPts val="400"/>
              </a:spcAft>
              <a:defRPr sz="1400" b="0">
                <a:solidFill>
                  <a:srgbClr val="F0F0F0"/>
                </a:solidFill>
              </a:defRPr>
            </a:pPr>
            <a:r>
              <a:rPr sz="1400"/>
              <a:t>기획자가 경험 커브 설계 가능</a:t>
            </a:r>
          </a:p>
          <a:p>
            <a:pPr>
              <a:spcAft>
                <a:spcPts val="400"/>
              </a:spcAft>
              <a:defRPr sz="1400" b="0">
                <a:solidFill>
                  <a:srgbClr val="F0F0F0"/>
                </a:solidFill>
              </a:defRPr>
            </a:pPr>
            <a:r>
              <a:rPr sz="1400"/>
              <a:t>서버 전용 데이터 → 역공학 리스크 없음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</a:defRPr>
            </a:pPr>
            <a:r>
              <a:t>3. 뽑기 실행 플로우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D7972"/>
                </a:solidFill>
              </a:defRPr>
            </a:pPr>
            <a:r>
              <a:t>꽝 (패턴값 = 0)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F0F0F0"/>
                </a:solidFill>
              </a:defRPr>
            </a:pPr>
            <a:r>
              <a:t>1. 소프트 피티 체크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   연속 꽝 10회 도달? → 양수값 슬롯 강제 소비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F0F0F0"/>
                </a:solidFill>
              </a:defRPr>
            </a:pPr>
            <a:r>
              <a:t>2. 꽝 처리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   실제 보상 없음 (인벤토리 미추가)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F0F0F0"/>
                </a:solidFill>
              </a:defRPr>
            </a:pPr>
            <a:r>
              <a:t>3. UI 표시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   RequiredClass 매칭 10개 랜덤 선택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   전부 표시용 (인벤토리 미추가)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00D2D3"/>
                </a:solidFill>
              </a:defRPr>
            </a:pPr>
            <a:r>
              <a:t>Response: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</a:defRPr>
            </a:pPr>
            <a:r>
              <a:t>   equipmentItems = null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</a:defRPr>
            </a:pPr>
            <a:r>
              <a:t>   gachaResult = Worth[10] (표시용)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5029200"/>
          </a:xfrm>
          <a:prstGeom prst="roundRect">
            <a:avLst>
              <a:gd name="adj" fmla="val 5000"/>
            </a:avLst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0E676"/>
                </a:solidFill>
              </a:defRPr>
            </a:pPr>
            <a:r>
              <a:t>당첨 (패턴값 &gt; 0)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F0F0F0"/>
                </a:solidFill>
              </a:defRPr>
            </a:pPr>
            <a:r>
              <a:t>1. 당첨금 분해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   유효 단위 조합으로 정확히 분해 (최대 5단위)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F0F0F0"/>
                </a:solidFill>
              </a:defRPr>
            </a:pPr>
            <a:r>
              <a:t>2. 가중치 선택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   가격대별 가중치로 1개 조합 랜덤 선택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F0F0F0"/>
                </a:solidFill>
              </a:defRPr>
            </a:pPr>
            <a:r>
              <a:t>3. 쌍 아이템 선정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   단위별 RequiredClass 매칭 → 랜덤 1개 x2 (실제 보상)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   쌍 간 중복 금지 (서로 다른 ItemCode)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F0F0F0"/>
                </a:solidFill>
              </a:defRPr>
            </a:pPr>
            <a:r>
              <a:t>4. 필러 채움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   남은 슬롯 = 10 - (단위수 x 2)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00D2D3"/>
                </a:solidFill>
              </a:defRPr>
            </a:pPr>
            <a:r>
              <a:t>Response: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</a:defRPr>
            </a:pPr>
            <a:r>
              <a:t>   equipmentItems = 쌍 아이템 (보상)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</a:defRPr>
            </a:pPr>
            <a:r>
              <a:t>   gachaResult = Worth[10] (보상+필러)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</a:defRPr>
            </a:pPr>
            <a:r>
              <a:t>4. 당첨금 분해 알고리즘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D2D3"/>
                </a:solidFill>
              </a:defRPr>
            </a:pPr>
            <a:r>
              <a:t>유효 분해 단위 (GachaItemPriceCode) — 12종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</a:defRPr>
            </a:pPr>
            <a:r>
              <a:t>500 | 1,000 | 2,500 | 5,000 | 10,000 | 25,000 | 50,000 | 100,000 | 250,000 | 500,000 | 1,000,000 | 2,500,000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6C5CE7"/>
                </a:solidFill>
              </a:defRPr>
            </a:pPr>
            <a:r>
              <a:t>알고리즘: Bounded Coin Change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F0F0F0"/>
                </a:solidFill>
              </a:defRPr>
            </a:pPr>
            <a:r>
              <a:t>실시간 재귀 열거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  깊이 5 x 가지치기 → 대부분 1ms 이내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F0F0F0"/>
                </a:solidFill>
              </a:defRPr>
            </a:pPr>
            <a:r>
              <a:t>Safety Cap: 200개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  200개 초과 시 열거 중단, 수집된 조합에서 선택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F0F0F0"/>
                </a:solidFill>
              </a:defRPr>
            </a:pPr>
            <a:r>
              <a:t>가격대별 가중치 선택</a:t>
            </a:r>
          </a:p>
          <a:p>
            <a:pPr>
              <a:spcAft>
                <a:spcPts val="400"/>
              </a:spcAft>
              <a:defRPr sz="1300" b="0">
                <a:solidFill>
                  <a:srgbClr val="00D2D3"/>
                </a:solidFill>
              </a:defRPr>
            </a:pPr>
            <a:r>
              <a:t>  100원: 다단위 우선 (풍성함)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</a:defRPr>
            </a:pPr>
            <a:r>
              <a:t>  1000원: 밸런스 (균등)</a:t>
            </a:r>
          </a:p>
          <a:p>
            <a:pPr>
              <a:spcAft>
                <a:spcPts val="400"/>
              </a:spcAft>
              <a:defRPr sz="1300" b="0">
                <a:solidFill>
                  <a:srgbClr val="00E676"/>
                </a:solidFill>
              </a:defRPr>
            </a:pPr>
            <a:r>
              <a:t>  10000원: 소수 분해 우선 (희소성)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FD7972"/>
                </a:solidFill>
              </a:defRPr>
            </a:pPr>
            <a:r>
              <a:t>서버 기동 시 전수 검증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  분해 불가능한 패턴값 → ERROR + 0 처리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5212080" cy="393192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E676"/>
                </a:solidFill>
              </a:defRPr>
            </a:pPr>
            <a:r>
              <a:t>분해 예시: 5,000원 당첨 (5가지 조합)</a:t>
            </a:r>
          </a:p>
          <a:p>
            <a:pPr>
              <a:spcAft>
                <a:spcPts val="400"/>
              </a:spcAft>
              <a:defRPr sz="8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F0F0F0"/>
                </a:solidFill>
              </a:defRPr>
            </a:pPr>
            <a:r>
              <a:t>{5000}          1단위  2보상 + 8필러</a:t>
            </a:r>
          </a:p>
          <a:p>
            <a:pPr>
              <a:spcAft>
                <a:spcPts val="400"/>
              </a:spcAft>
              <a:defRPr sz="1400" b="0">
                <a:solidFill>
                  <a:srgbClr val="F0F0F0"/>
                </a:solidFill>
              </a:defRPr>
            </a:pPr>
            <a:r>
              <a:t>{2500, 2500}    2단위  4보상 + 6필러</a:t>
            </a:r>
          </a:p>
          <a:p>
            <a:pPr>
              <a:spcAft>
                <a:spcPts val="400"/>
              </a:spcAft>
              <a:defRPr sz="1400" b="0">
                <a:solidFill>
                  <a:srgbClr val="F0F0F0"/>
                </a:solidFill>
              </a:defRPr>
            </a:pPr>
            <a:r>
              <a:t>{2500, 1K, 1K, 500}  4단위  8보상 + 2필러</a:t>
            </a:r>
          </a:p>
          <a:p>
            <a:pPr>
              <a:spcAft>
                <a:spcPts val="400"/>
              </a:spcAft>
              <a:defRPr sz="1400" b="0">
                <a:solidFill>
                  <a:srgbClr val="F0F0F0"/>
                </a:solidFill>
              </a:defRPr>
            </a:pPr>
            <a:r>
              <a:t>{2500, 1K, 500x3}    5단위  10보상</a:t>
            </a:r>
          </a:p>
          <a:p>
            <a:pPr>
              <a:spcAft>
                <a:spcPts val="400"/>
              </a:spcAft>
              <a:defRPr sz="1400" b="0">
                <a:solidFill>
                  <a:srgbClr val="F0F0F0"/>
                </a:solidFill>
              </a:defRPr>
            </a:pPr>
            <a:r>
              <a:t>{1000 x 5}     5단위  10보상</a:t>
            </a:r>
          </a:p>
          <a:p>
            <a:pPr>
              <a:spcAft>
                <a:spcPts val="400"/>
              </a:spcAft>
              <a:defRPr sz="10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FD7972"/>
                </a:solidFill>
              </a:defRPr>
            </a:pPr>
            <a:r>
              <a:t>핵심 제약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  최대 5단위 (10아이템 상한)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  단위 합 = 당첨금 (정확히 분해)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  유효 GachaItemPriceCode만 사용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</a:defRPr>
            </a:pPr>
            <a:r>
              <a:t>5. 데이터 테이블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</a:defRPr>
            </a:pPr>
            <a:r>
              <a:t>NewGachaPattern (SCSV)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</a:defRPr>
            </a:pPr>
            <a:r>
              <a:t>GachaPriceCode (int) — 100/1000/10000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</a:defRPr>
            </a:pPr>
            <a:r>
              <a:t>GachaPageGroup (int) — 페이지 그룹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</a:defRPr>
            </a:pPr>
            <a:r>
              <a:t>GachaItemGroupCode (int) — Row 식별자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</a:defRPr>
            </a:pPr>
            <a:r>
              <a:t>Pattern01~100 (int) — 당첨금 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</a:defRPr>
            </a:pPr>
            <a:r>
              <a:t>복합키: PriceCode + PageGroup + ItemGroupCode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D3"/>
                </a:solidFill>
              </a:defRPr>
            </a:pPr>
            <a:r>
              <a:t>NewGachaItemGroup (SCSV)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</a:defRPr>
            </a:pPr>
            <a:r>
              <a:t>GachaItemPriceCode (int) — 분해 단위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</a:defRPr>
            </a:pPr>
            <a:r>
              <a:t>ItemCode (EodGTC) — 아이템 코드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</a:defRPr>
            </a:pPr>
            <a:r>
              <a:t>RequiredClass (eCharacterClass) — 클래스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</a:defRPr>
            </a:pPr>
            <a:r>
              <a:t>유효 PriceCode: 500 ~ 2,500,000 (12종)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8872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</a:defRPr>
            </a:pPr>
            <a:r>
              <a:t>Assignment (DB)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</a:defRPr>
            </a:pPr>
            <a:r>
              <a:t>복합키 3컬럼 (PK)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</a:defRPr>
            </a:pPr>
            <a:r>
              <a:t>ClaimedByPlayerId (nullable)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</a:defRPr>
            </a:pPr>
            <a:r>
              <a:t>CurrentSlotIndex (0~99)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</a:defRPr>
            </a:pPr>
            <a:r>
              <a:t>ConsecutiveLossCount (소프트 피티)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83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</a:defRPr>
            </a:pPr>
            <a:r>
              <a:t>ClaimedAt (datetime)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60"/>
            <a:ext cx="11247120" cy="13716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029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D7972"/>
                </a:solidFill>
              </a:defRPr>
            </a:pPr>
            <a:r>
              <a:t>ShopGacha 확장 (기존 테이블)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</a:defRPr>
            </a:pPr>
            <a:r>
              <a:t>gachaType = NewPattern (새 enum 추가)  |  pullCount = 1  |  gachaGradeGroupCode 미사용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기존 비용 체크/차감/로그/알림 로직 100% 재사용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</a:defRPr>
            </a:pPr>
            <a:r>
              <a:t>6. UI/UX 연출 가이드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005840" cy="1463040"/>
          </a:xfrm>
          <a:prstGeom prst="roundRect">
            <a:avLst>
              <a:gd name="adj" fmla="val 5000"/>
            </a:avLst>
          </a:prstGeom>
          <a:solidFill>
            <a:srgbClr val="3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005840" cy="1463040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5CE7"/>
                </a:solidFill>
              </a:defRPr>
            </a:pPr>
            <a:r>
              <a:t>보상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#1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1188720"/>
            <a:ext cx="1005840" cy="1463040"/>
          </a:xfrm>
          <a:prstGeom prst="roundRect">
            <a:avLst>
              <a:gd name="adj" fmla="val 5000"/>
            </a:avLst>
          </a:prstGeom>
          <a:solidFill>
            <a:srgbClr val="3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600200" y="1188720"/>
            <a:ext cx="1005840" cy="1463040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1645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5CE7"/>
                </a:solidFill>
              </a:defRPr>
            </a:pPr>
            <a:r>
              <a:t>보상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0116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#2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188720"/>
            <a:ext cx="1005840" cy="1463040"/>
          </a:xfrm>
          <a:prstGeom prst="roundRect">
            <a:avLst>
              <a:gd name="adj" fmla="val 5000"/>
            </a:avLst>
          </a:prstGeom>
          <a:solidFill>
            <a:srgbClr val="3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43200" y="1188720"/>
            <a:ext cx="1005840" cy="1463040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34640" y="1645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5CE7"/>
                </a:solidFill>
              </a:defRPr>
            </a:pPr>
            <a:r>
              <a:t>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0116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#3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1188720"/>
            <a:ext cx="1005840" cy="1463040"/>
          </a:xfrm>
          <a:prstGeom prst="roundRect">
            <a:avLst>
              <a:gd name="adj" fmla="val 5000"/>
            </a:avLst>
          </a:prstGeom>
          <a:solidFill>
            <a:srgbClr val="3A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886200" y="1188720"/>
            <a:ext cx="1005840" cy="1463040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77640" y="1645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5CE7"/>
                </a:solidFill>
              </a:defRPr>
            </a:pPr>
            <a:r>
              <a:t>보상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20116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#4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188720"/>
            <a:ext cx="1005840" cy="1463040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1645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</a:defRPr>
            </a:pPr>
            <a:r>
              <a:t>필러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0116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#5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188720"/>
            <a:ext cx="1005840" cy="1463040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1645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</a:defRPr>
            </a:pPr>
            <a:r>
              <a:t>필러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0116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#6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188720"/>
            <a:ext cx="1005840" cy="1463040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0" y="1645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</a:defRPr>
            </a:pPr>
            <a:r>
              <a:t>필러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0116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#7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1188720"/>
            <a:ext cx="1005840" cy="1463040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49640" y="1645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</a:defRPr>
            </a:pPr>
            <a:r>
              <a:t>필러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20116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#8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1188720"/>
            <a:ext cx="1005840" cy="1463040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92640" y="1645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</a:defRPr>
            </a:pPr>
            <a:r>
              <a:t>필러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0116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#9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44200" y="1188720"/>
            <a:ext cx="1005840" cy="1463040"/>
          </a:xfrm>
          <a:prstGeom prst="roundRect">
            <a:avLst>
              <a:gd name="adj" fmla="val 5000"/>
            </a:avLst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835640" y="1645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</a:defRPr>
            </a:pPr>
            <a:r>
              <a:t>필러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5640" y="20116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#10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예시: 2단위 분해 (4보상 + 6필러) — 보상은 보라색 테두리 + 특별 이펙트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47472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0B0C0"/>
                </a:solidFill>
              </a:defRPr>
            </a:pPr>
            <a:r>
              <a:t>100원 가챠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0233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기본 연출</a:t>
            </a:r>
            <a:br/>
            <a:r>
              <a:t>빠른 결과 표시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347472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D3"/>
                </a:solidFill>
              </a:defRPr>
            </a:pPr>
            <a:r>
              <a:t>1,000원 가챠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0233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중간 연출</a:t>
            </a:r>
            <a:br/>
            <a:r>
              <a:t>효과음 추가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347472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1248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</a:defRPr>
            </a:pPr>
            <a:r>
              <a:t>10,000원 가챠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0233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고급 연출</a:t>
            </a:r>
            <a:br/>
            <a:r>
              <a:t>전용 배경 + 특별 이펙트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12064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" y="52120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E676"/>
                </a:solidFill>
              </a:defRPr>
            </a:pPr>
            <a:r>
              <a:t>소프트 피티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</a:defRPr>
            </a:pPr>
            <a:r>
              <a:t>연속 꽝 10회 → 다음 소비 당첨 보장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유저별 DB 저장 (ConsecutiveLossCount)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5120640"/>
            <a:ext cx="5212080" cy="13716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52120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D7972"/>
                </a:solidFill>
              </a:defRPr>
            </a:pPr>
            <a:r>
              <a:t>Row 소진 연출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</a:defRPr>
            </a:pPr>
            <a:r>
              <a:t>100슬롯 소진 시 '새로운 패턴 시작!' 연출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</a:defRPr>
            </a:pPr>
            <a:r>
              <a:t>진행률 표시: '현재 패턴: 37/100' (선택)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</a:defRPr>
            </a:pPr>
            <a:r>
              <a:t>7. 경제 설계 + 규제 대응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0"/>
                </a:solidFill>
              </a:defRPr>
            </a:pPr>
            <a:r>
              <a:t>가격대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19" y="109728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23159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0"/>
                </a:solidFill>
              </a:defRPr>
            </a:pPr>
            <a:r>
              <a:t>꽝 비율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38" y="109728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78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0"/>
                </a:solidFill>
              </a:defRPr>
            </a:pPr>
            <a:r>
              <a:t>당첨 평균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57" y="109728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197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0"/>
                </a:solidFill>
              </a:defRPr>
            </a:pPr>
            <a:r>
              <a:t>최대 당첨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6" y="109728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6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0"/>
                </a:solidFill>
              </a:defRPr>
            </a:pPr>
            <a:r>
              <a:t>기대값(EV)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795" y="109728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21235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0"/>
                </a:solidFill>
              </a:defRPr>
            </a:pPr>
            <a:r>
              <a:t>하우스 엣지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64592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</a:defRPr>
            </a:pPr>
            <a:r>
              <a:t>100원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19" y="164592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23159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</a:defRPr>
            </a:pPr>
            <a:r>
              <a:t>40~55%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38" y="164592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78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</a:defRPr>
            </a:pPr>
            <a:r>
              <a:t>500~1K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57" y="164592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197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</a:defRPr>
            </a:pPr>
            <a:r>
              <a:t>2.5K~5K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6" y="164592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6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2D3"/>
                </a:solidFill>
              </a:defRPr>
            </a:pPr>
            <a:r>
              <a:t>60~80원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795" y="164592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21235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</a:defRPr>
            </a:pPr>
            <a:r>
              <a:t>20~40%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14884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</a:defRPr>
            </a:pPr>
            <a:r>
              <a:t>1,000원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31719" y="214884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59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</a:defRPr>
            </a:pPr>
            <a:r>
              <a:t>30~45%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38" y="214884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78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</a:defRPr>
            </a:pPr>
            <a:r>
              <a:t>1K~5K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0757" y="214884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197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</a:defRPr>
            </a:pPr>
            <a:r>
              <a:t>25K~50K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6" y="214884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16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2D3"/>
                </a:solidFill>
              </a:defRPr>
            </a:pPr>
            <a:r>
              <a:t>700~850원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29795" y="214884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21235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</a:defRPr>
            </a:pPr>
            <a:r>
              <a:t>15~30%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265176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</a:defRPr>
            </a:pPr>
            <a:r>
              <a:t>10,000원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31719" y="265176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23159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</a:defRPr>
            </a:pPr>
            <a:r>
              <a:t>15~25%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38" y="265176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97678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</a:defRPr>
            </a:pPr>
            <a:r>
              <a:t>10K~50K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57" y="265176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72197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</a:defRPr>
            </a:pPr>
            <a:r>
              <a:t>500K~2.5M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55276" y="265176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16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2D3"/>
                </a:solidFill>
              </a:defRPr>
            </a:pPr>
            <a:r>
              <a:t>8K~9K원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29795" y="2651760"/>
            <a:ext cx="1783080" cy="457200"/>
          </a:xfrm>
          <a:prstGeom prst="roundRect">
            <a:avLst>
              <a:gd name="adj" fmla="val 5000"/>
            </a:avLst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921235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</a:defRPr>
            </a:pPr>
            <a:r>
              <a:t>10~20%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47472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1520" y="3566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D7972"/>
                </a:solidFill>
              </a:defRPr>
            </a:pPr>
            <a:r>
              <a:t>규제 대응 전략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F0F0F0"/>
                </a:solidFill>
              </a:defRPr>
            </a:pPr>
            <a:r>
              <a:t>확률 표시: 전체 평균 확률 공개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</a:defRPr>
            </a:pPr>
            <a:r>
              <a:t>  '100회 중 당첨 약 50% (배치에 따라 상이)'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F0F0F0"/>
                </a:solidFill>
              </a:defRPr>
            </a:pPr>
            <a:r>
              <a:t>Row 간 분포 균일화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</a:defRPr>
            </a:pPr>
            <a:r>
              <a:t>  꽝 비율 +-5% | 기대값 +-10% | 최대 당첨 1+ 보장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</a:defRPr>
            </a:pPr>
            <a:r>
              <a:t>한국: 게임산업법 확률 표시 의무 → 평균 확률 공개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</a:defRPr>
            </a:pPr>
            <a:r>
              <a:t>일본: JOGA 자율규제 → 동일 방식</a:t>
            </a:r>
          </a:p>
          <a:p>
            <a:pPr>
              <a:spcAft>
                <a:spcPts val="400"/>
              </a:spcAft>
              <a:defRPr sz="1300" b="0">
                <a:solidFill>
                  <a:srgbClr val="FD7972"/>
                </a:solidFill>
              </a:defRPr>
            </a:pPr>
            <a:r>
              <a:t>벨기에: 유료 가챠 비활성화 필요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3474720"/>
            <a:ext cx="5212080" cy="292608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92240" y="35661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E676"/>
                </a:solidFill>
              </a:defRPr>
            </a:pPr>
            <a:r>
              <a:t>과금 유도 구조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F0F0F0"/>
                </a:solidFill>
              </a:defRPr>
            </a:pPr>
            <a:r>
              <a:t>100슬롯 = 천장 유사 효과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</a:defRPr>
            </a:pPr>
            <a:r>
              <a:t>  '이번 Row에 대박이 있을 것' 매몰 비용 심리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F0F0F0"/>
                </a:solidFill>
              </a:defRPr>
            </a:pPr>
            <a:r>
              <a:t>가격대 간 전환 유도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</a:defRPr>
            </a:pPr>
            <a:r>
              <a:t>  100→1000: PriceCode 5000+ 독점 아이템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</a:defRPr>
            </a:pPr>
            <a:r>
              <a:t>  1000→10000: PriceCode 500K+ 최상위 독점</a:t>
            </a:r>
          </a:p>
          <a:p>
            <a:pPr>
              <a:spcAft>
                <a:spcPts val="400"/>
              </a:spcAft>
              <a:defRPr sz="600" b="0">
                <a:solidFill>
                  <a:srgbClr val="B0B0C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F0F0F0"/>
                </a:solidFill>
              </a:defRPr>
            </a:pPr>
            <a:r>
              <a:t>역진적 하우스 엣지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</a:defRPr>
            </a:pPr>
            <a:r>
              <a:t>  저가(높은 마진) → 고가(낮은 마진)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</a:defRPr>
            </a:pPr>
            <a:r>
              <a:t>  고래 유저 충성도 유지 전략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</a:defRPr>
            </a:pPr>
            <a:r>
              <a:t>8. 설계 결정 요약 (에이전트 회의 합의)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508760"/>
            <a:ext cx="274320" cy="2743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0"/>
                </a:solidFill>
              </a:defRPr>
            </a:pPr>
            <a:r>
              <a:t>분해 알고리즘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실시간 재귀 열거 + Cap 200 + 가중치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2560320"/>
            <a:ext cx="274320" cy="2743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0"/>
                </a:solidFill>
              </a:defRPr>
            </a:pPr>
            <a:r>
              <a:t>Pattern 소비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순차 (01→100)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4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3611880"/>
            <a:ext cx="274320" cy="2743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0"/>
                </a:solidFill>
              </a:defRPr>
            </a:pPr>
            <a:r>
              <a:t>소프트 피티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도입 (연속 꽝 10회 보장)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4340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4663440"/>
            <a:ext cx="274320" cy="2743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0"/>
                </a:solidFill>
              </a:defRPr>
            </a:pPr>
            <a:r>
              <a:t>쌍 간 중복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금지 (서로 다른 ItemCode)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18872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92240" y="1508760"/>
            <a:ext cx="274320" cy="274320"/>
          </a:xfrm>
          <a:prstGeom prst="ellipse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0"/>
                </a:solidFill>
              </a:defRPr>
            </a:pPr>
            <a:r>
              <a:t>필러 가격대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무관 (RequiredClass만 매칭)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24028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92240" y="2560320"/>
            <a:ext cx="274320" cy="274320"/>
          </a:xfrm>
          <a:prstGeom prst="ellipse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0"/>
                </a:solidFill>
              </a:defRPr>
            </a:pPr>
            <a:r>
              <a:t>Row 할당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DB 원자적 선점 (Optimistic Claim)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29184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92240" y="3611880"/>
            <a:ext cx="274320" cy="274320"/>
          </a:xfrm>
          <a:prstGeom prst="ellipse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0"/>
                </a:solidFill>
              </a:defRPr>
            </a:pPr>
            <a:r>
              <a:t>서브그룹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749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같은 가격대의 다른 패턴 변형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34340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92240" y="4663440"/>
            <a:ext cx="274320" cy="274320"/>
          </a:xfrm>
          <a:prstGeom prst="ellipse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4944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0"/>
                </a:solidFill>
              </a:defRPr>
            </a:pPr>
            <a:r>
              <a:t>PageGroup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N 전부 소진 → N+1 이동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6C5CE7"/>
                </a:solidFill>
              </a:defRPr>
            </a:pPr>
            <a:r>
              <a:t>Next: S4 상세개발계획서 + Todo</a:t>
            </a:r>
          </a:p>
          <a:p>
            <a:pPr>
              <a:spcAft>
                <a:spcPts val="400"/>
              </a:spcAft>
              <a:defRPr sz="1400" b="0">
                <a:solidFill>
                  <a:srgbClr val="B0B0C0"/>
                </a:solidFill>
              </a:defRPr>
            </a:pPr>
            <a:r>
              <a:t>서버 구현 범위 | 클라이언트 변경 범위 | 분해 알고리즘 구현 | 테스트 전략 | Todo 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7848717-E886-491E-8CE5-85C1319FA8EE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1182</Words>
  <Application>Microsoft Office PowerPoint</Application>
  <PresentationFormat>와이드스크린</PresentationFormat>
  <Paragraphs>240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a36670</cp:lastModifiedBy>
  <cp:revision>2</cp:revision>
  <dcterms:created xsi:type="dcterms:W3CDTF">2013-01-27T09:14:16Z</dcterms:created>
  <dcterms:modified xsi:type="dcterms:W3CDTF">2026-03-06T09:00:22Z</dcterms:modified>
  <cp:category/>
</cp:coreProperties>
</file>