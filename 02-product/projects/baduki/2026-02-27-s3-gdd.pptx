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C9A84C"/>
                </a:solidFill>
                <a:latin typeface="맑은 고딕"/>
              </a:defRPr>
            </a:pPr>
            <a:r>
              <a:t>로우 바둑이 (Low Baduki)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5F0E8"/>
                </a:solidFill>
                <a:latin typeface="맑은 고딕"/>
              </a:defRPr>
            </a:pPr>
            <a:r>
              <a:t>Game Design Document (GDD)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840480"/>
            <a:ext cx="45720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43891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AAAAAA"/>
                </a:solidFill>
                <a:latin typeface="맑은 고딕"/>
              </a:defRPr>
            </a:pPr>
            <a:r>
              <a:t>SIGIL S3  |  Unity 6.3 LTS  |  모바일(Android/iOS) → PC → 웹</a:t>
            </a:r>
          </a:p>
          <a:p>
            <a:pPr>
              <a:spcAft>
                <a:spcPts val="400"/>
              </a:spcAft>
              <a:defRPr sz="1000" b="0">
                <a:solidFill>
                  <a:srgbClr val="AAAAAA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AAAAAA"/>
                </a:solidFill>
                <a:latin typeface="맑은 고딕"/>
              </a:defRPr>
            </a:pPr>
            <a:r>
              <a:t>작성일: 2026-02-27  |  버전 1.0</a:t>
            </a:r>
          </a:p>
          <a:p>
            <a:pPr>
              <a:spcAft>
                <a:spcPts val="400"/>
              </a:spcAft>
              <a:defRPr sz="1400" b="0">
                <a:solidFill>
                  <a:srgbClr val="C9A84C"/>
                </a:solidFill>
                <a:latin typeface="맑은 고딕"/>
              </a:defRPr>
            </a:pPr>
            <a:r>
              <a:t>한국 국내 전용 서비스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9A84C"/>
                </a:solidFill>
                <a:latin typeface="맑은 고딕"/>
              </a:defRPr>
            </a:pPr>
            <a:r>
              <a:t>목차 (Table of Contents)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F0E8"/>
                </a:solidFill>
                <a:latin typeface="맑은 고딕"/>
              </a:defRPr>
            </a:pPr>
            <a:r>
              <a:t>01. 게임 개요 (Game Overview)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F0E8"/>
                </a:solidFill>
                <a:latin typeface="맑은 고딕"/>
              </a:defRPr>
            </a:pPr>
            <a:r>
              <a:t>02. 핵심 메커닉 (Core Mechanics)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F0E8"/>
                </a:solidFill>
                <a:latin typeface="맑은 고딕"/>
              </a:defRPr>
            </a:pPr>
            <a:r>
              <a:t>03. UI/UX 플로우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6615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F0E8"/>
                </a:solidFill>
                <a:latin typeface="맑은 고딕"/>
              </a:defRPr>
            </a:pPr>
            <a:r>
              <a:t>04. 아트 방향 (Art Direction)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F0E8"/>
                </a:solidFill>
                <a:latin typeface="맑은 고딕"/>
              </a:defRPr>
            </a:pPr>
            <a:r>
              <a:t>05. 오디오 설계 (Audio Design)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F0E8"/>
                </a:solidFill>
                <a:latin typeface="맑은 고딕"/>
              </a:defRPr>
            </a:pPr>
            <a:r>
              <a:t>06. 경제 설계 (Economy Design)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2860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F0E8"/>
                </a:solidFill>
                <a:latin typeface="맑은 고딕"/>
              </a:defRPr>
            </a:pPr>
            <a:r>
              <a:t>07. 콘텐츠 설계 (Content Design)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926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F0E8"/>
                </a:solidFill>
                <a:latin typeface="맑은 고딕"/>
              </a:defRPr>
            </a:pPr>
            <a:r>
              <a:t>08. 기술 요구사항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56615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F0E8"/>
                </a:solidFill>
                <a:latin typeface="맑은 고딕"/>
              </a:defRPr>
            </a:pPr>
            <a:r>
              <a:t>09. 관리자 도구 (Admin Tools)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2062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F0E8"/>
                </a:solidFill>
                <a:latin typeface="맑은 고딕"/>
              </a:defRPr>
            </a:pPr>
            <a:r>
              <a:t>10. 리스크 및 법률/심의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C9A84C"/>
                </a:solidFill>
                <a:latin typeface="맑은 고딕"/>
              </a:defRPr>
            </a:pPr>
            <a:r>
              <a:t>01. 게임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5F0E8"/>
                </a:solidFill>
                <a:latin typeface="맑은 고딕"/>
              </a:defRPr>
            </a:pPr>
            <a:r>
              <a:t>Game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657600"/>
            <a:ext cx="45720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맑은 고딕"/>
              </a:defRPr>
            </a:pPr>
            <a:r>
              <a:t>High Concept &amp; Core Fantasy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144000" cy="1097280"/>
          </a:xfrm>
          <a:prstGeom prst="roundRect">
            <a:avLst/>
          </a:prstGeom>
          <a:solidFill>
            <a:srgbClr val="1A3A2A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맑은 고딕"/>
              </a:defRPr>
            </a:pPr>
            <a:r>
              <a:t>"언제 어디서든 3분 만에 한 판 — 한국 전통 로우 바둑이의 모던 리부트.</a:t>
            </a:r>
            <a:br/>
            <a:r>
              <a:t>AI 대전부터 친구 대전까지."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C9A84C"/>
                </a:solidFill>
                <a:latin typeface="맑은 고딕"/>
              </a:defRPr>
            </a:pPr>
            <a:r>
              <a:t>핵심 재미 요소</a:t>
            </a:r>
          </a:p>
          <a:p>
            <a:pPr>
              <a:spcAft>
                <a:spcPts val="400"/>
              </a:spcAft>
              <a:defRPr sz="600" b="0">
                <a:solidFill>
                  <a:srgbClr val="F5F0E8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F5F0E8"/>
                </a:solidFill>
                <a:latin typeface="맑은 고딕"/>
              </a:defRPr>
            </a:pPr>
            <a:r>
              <a:t>  전략적 긴장감 — 3회 드로우 두뇌 싸움</a:t>
            </a:r>
          </a:p>
          <a:p>
            <a:pPr>
              <a:spcAft>
                <a:spcPts val="400"/>
              </a:spcAft>
              <a:defRPr sz="1500" b="0">
                <a:solidFill>
                  <a:srgbClr val="F5F0E8"/>
                </a:solidFill>
                <a:latin typeface="맑은 고딕"/>
              </a:defRPr>
            </a:pPr>
            <a:r>
              <a:t>  블러핑의 쾌감 — 심리전 승리</a:t>
            </a:r>
          </a:p>
          <a:p>
            <a:pPr>
              <a:spcAft>
                <a:spcPts val="400"/>
              </a:spcAft>
              <a:defRPr sz="1500" b="0">
                <a:solidFill>
                  <a:srgbClr val="F5F0E8"/>
                </a:solidFill>
                <a:latin typeface="맑은 고딕"/>
              </a:defRPr>
            </a:pPr>
            <a:r>
              <a:t>  성장 체감 — ELO/랭크 시스템</a:t>
            </a:r>
          </a:p>
          <a:p>
            <a:pPr>
              <a:spcAft>
                <a:spcPts val="400"/>
              </a:spcAft>
              <a:defRPr sz="1500" b="0">
                <a:solidFill>
                  <a:srgbClr val="F5F0E8"/>
                </a:solidFill>
                <a:latin typeface="맑은 고딕"/>
              </a:defRPr>
            </a:pPr>
            <a:r>
              <a:t>  빠른 만족감 — 3-5분 세션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9260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C9A84C"/>
                </a:solidFill>
                <a:latin typeface="맑은 고딕"/>
              </a:defRPr>
            </a:pPr>
            <a:r>
              <a:t>USP (차별점)</a:t>
            </a:r>
          </a:p>
          <a:p>
            <a:pPr>
              <a:spcAft>
                <a:spcPts val="400"/>
              </a:spcAft>
              <a:defRPr sz="600" b="0">
                <a:solidFill>
                  <a:srgbClr val="F5F0E8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F5F0E8"/>
                </a:solidFill>
                <a:latin typeface="맑은 고딕"/>
              </a:defRPr>
            </a:pPr>
            <a:r>
              <a:t>1. 로우 바둑이 전문 — 서브 모드가 아닌 메인</a:t>
            </a:r>
          </a:p>
          <a:p>
            <a:pPr>
              <a:spcAft>
                <a:spcPts val="400"/>
              </a:spcAft>
              <a:defRPr sz="1500" b="0">
                <a:solidFill>
                  <a:srgbClr val="F5F0E8"/>
                </a:solidFill>
                <a:latin typeface="맑은 고딕"/>
              </a:defRPr>
            </a:pPr>
            <a:r>
              <a:t>2. AI 대전 3단계 — 온디바이스 추론, 서버 비용 $0</a:t>
            </a:r>
          </a:p>
          <a:p>
            <a:pPr>
              <a:spcAft>
                <a:spcPts val="400"/>
              </a:spcAft>
              <a:defRPr sz="1500" b="0">
                <a:solidFill>
                  <a:srgbClr val="F5F0E8"/>
                </a:solidFill>
                <a:latin typeface="맑은 고딕"/>
              </a:defRPr>
            </a:pPr>
            <a:r>
              <a:t>3. 모던 프리미엄 UX — 10년+ 노후 경쟁사 대비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맑은 고딕"/>
              </a:defRPr>
            </a:pPr>
            <a:r>
              <a:t>장르 &amp; 타겟 유저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5029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</a:tblGrid>
              <a:tr h="40233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내용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메인 장르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턴제 카드 게임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서브장르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포커 변형 — 로우볼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세션 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캐주얼 (3-5분/판)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소셜 구조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멀티플레이어 (2-4인) + AI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0" y="128016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914400"/>
                <a:gridCol w="914400"/>
                <a:gridCol w="1188720"/>
              </a:tblGrid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세그먼트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연령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월 지출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수익 기여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우선순위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전략형 경쟁자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20-40대 남성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$15-80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40-50%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1순위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사교형 애호가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30-50대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$5-20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20-30%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2순위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향수형 레트로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50대+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$2-5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5-10%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3순위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하드코어 챌린저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20-30대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$40-100+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20-30%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4순위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8404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C9A84C"/>
                </a:solidFill>
                <a:latin typeface="맑은 고딕"/>
              </a:defRPr>
            </a:pPr>
            <a:r>
              <a:t>핵심 동기 (한국 게이머)</a:t>
            </a:r>
          </a:p>
          <a:p>
            <a:pPr>
              <a:spcAft>
                <a:spcPts val="400"/>
              </a:spcAft>
              <a:defRPr sz="1400" b="0">
                <a:solidFill>
                  <a:srgbClr val="F5F0E8"/>
                </a:solidFill>
                <a:latin typeface="맑은 고딕"/>
              </a:defRPr>
            </a:pPr>
            <a:r>
              <a:t>  사회적 연결 36.1%  |  성장/진행 24.6%  |  경쟁/실력 19.3%  |  시간 효율 18.2%</a:t>
            </a:r>
          </a:p>
          <a:p>
            <a:pPr>
              <a:spcAft>
                <a:spcPts val="400"/>
              </a:spcAft>
              <a:defRPr sz="600" b="0">
                <a:solidFill>
                  <a:srgbClr val="F5F0E8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AAAAAA"/>
                </a:solidFill>
                <a:latin typeface="맑은 고딕"/>
              </a:defRPr>
            </a:pPr>
            <a:r>
              <a:t>Early Adopter: 한게임/피망 현재 유저 중 UI 불만층 (20-40대 남성)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C9A84C"/>
                </a:solidFill>
                <a:latin typeface="맑은 고딕"/>
              </a:defRPr>
            </a:pPr>
            <a:r>
              <a:t>02. 핵심 메커닉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5F0E8"/>
                </a:solidFill>
                <a:latin typeface="맑은 고딕"/>
              </a:defRPr>
            </a:pPr>
            <a:r>
              <a:t>Core Mechanics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657600"/>
            <a:ext cx="45720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맑은 고딕"/>
              </a:defRPr>
            </a:pPr>
            <a:r>
              <a:t>코어 루프 (Core Loop)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C9A84C"/>
                </a:solidFill>
                <a:latin typeface="맑은 고딕"/>
              </a:defRPr>
            </a:pPr>
            <a:r>
              <a:t>게임 진행 순서</a:t>
            </a:r>
          </a:p>
          <a:p>
            <a:pPr>
              <a:spcAft>
                <a:spcPts val="400"/>
              </a:spcAft>
              <a:defRPr sz="600" b="0">
                <a:solidFill>
                  <a:srgbClr val="F5F0E8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5F0E8"/>
                </a:solidFill>
                <a:latin typeface="맑은 고딕"/>
              </a:defRPr>
            </a:pPr>
            <a:r>
              <a:t>Step 1: 블라인드 설정 (SB/BB)</a:t>
            </a:r>
          </a:p>
          <a:p>
            <a:pPr>
              <a:spcAft>
                <a:spcPts val="400"/>
              </a:spcAft>
              <a:defRPr sz="1400" b="0">
                <a:solidFill>
                  <a:srgbClr val="F5F0E8"/>
                </a:solidFill>
                <a:latin typeface="맑은 고딕"/>
              </a:defRPr>
            </a:pPr>
            <a:r>
              <a:t>Step 2: 초기 핸드 4장 배분</a:t>
            </a:r>
          </a:p>
          <a:p>
            <a:pPr>
              <a:spcAft>
                <a:spcPts val="400"/>
              </a:spcAft>
              <a:defRPr sz="1400" b="0">
                <a:solidFill>
                  <a:srgbClr val="F5F0E8"/>
                </a:solidFill>
                <a:latin typeface="맑은 고딕"/>
              </a:defRPr>
            </a:pPr>
            <a:r>
              <a:t>Step 3: 1라운드 베팅 (프리드로우)</a:t>
            </a:r>
          </a:p>
          <a:p>
            <a:pPr>
              <a:spcAft>
                <a:spcPts val="400"/>
              </a:spcAft>
              <a:defRPr sz="1400" b="0">
                <a:solidFill>
                  <a:srgbClr val="F5F0E8"/>
                </a:solidFill>
                <a:latin typeface="맑은 고딕"/>
              </a:defRPr>
            </a:pPr>
            <a:r>
              <a:t>Step 4: 1차 드로우 (아침) — 0-4장 교환</a:t>
            </a:r>
          </a:p>
          <a:p>
            <a:pPr>
              <a:spcAft>
                <a:spcPts val="400"/>
              </a:spcAft>
              <a:defRPr sz="1400" b="0">
                <a:solidFill>
                  <a:srgbClr val="F5F0E8"/>
                </a:solidFill>
                <a:latin typeface="맑은 고딕"/>
              </a:defRPr>
            </a:pPr>
            <a:r>
              <a:t>Step 5: 2라운드 베팅</a:t>
            </a:r>
          </a:p>
          <a:p>
            <a:pPr>
              <a:spcAft>
                <a:spcPts val="400"/>
              </a:spcAft>
              <a:defRPr sz="1400" b="0">
                <a:solidFill>
                  <a:srgbClr val="F5F0E8"/>
                </a:solidFill>
                <a:latin typeface="맑은 고딕"/>
              </a:defRPr>
            </a:pPr>
            <a:r>
              <a:t>Step 6: 2차 드로우 (점심)</a:t>
            </a:r>
          </a:p>
          <a:p>
            <a:pPr>
              <a:spcAft>
                <a:spcPts val="400"/>
              </a:spcAft>
              <a:defRPr sz="1400" b="0">
                <a:solidFill>
                  <a:srgbClr val="F5F0E8"/>
                </a:solidFill>
                <a:latin typeface="맑은 고딕"/>
              </a:defRPr>
            </a:pPr>
            <a:r>
              <a:t>Step 7: 3라운드 베팅</a:t>
            </a:r>
          </a:p>
          <a:p>
            <a:pPr>
              <a:spcAft>
                <a:spcPts val="400"/>
              </a:spcAft>
              <a:defRPr sz="1400" b="0">
                <a:solidFill>
                  <a:srgbClr val="F5F0E8"/>
                </a:solidFill>
                <a:latin typeface="맑은 고딕"/>
              </a:defRPr>
            </a:pPr>
            <a:r>
              <a:t>Step 8: 3차 드로우 (저녁)</a:t>
            </a:r>
          </a:p>
          <a:p>
            <a:pPr>
              <a:spcAft>
                <a:spcPts val="400"/>
              </a:spcAft>
              <a:defRPr sz="1400" b="0">
                <a:solidFill>
                  <a:srgbClr val="F5F0E8"/>
                </a:solidFill>
                <a:latin typeface="맑은 고딕"/>
              </a:defRPr>
            </a:pPr>
            <a:r>
              <a:t>Step 9: 4라운드 베팅</a:t>
            </a:r>
          </a:p>
          <a:p>
            <a:pPr>
              <a:spcAft>
                <a:spcPts val="400"/>
              </a:spcAft>
              <a:defRPr sz="1400" b="0">
                <a:solidFill>
                  <a:srgbClr val="F5F0E8"/>
                </a:solidFill>
                <a:latin typeface="맑은 고딕"/>
              </a:defRPr>
            </a:pPr>
            <a:r>
              <a:t>Step 10: 쇼다운 — 족보 비교, 승자 팟 획득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80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C9A84C"/>
                </a:solidFill>
                <a:latin typeface="맑은 고딕"/>
              </a:defRPr>
            </a:pPr>
            <a:r>
              <a:t>3단계 루프 구조</a:t>
            </a:r>
          </a:p>
          <a:p>
            <a:pPr>
              <a:spcAft>
                <a:spcPts val="400"/>
              </a:spcAft>
              <a:defRPr sz="600" b="0">
                <a:solidFill>
                  <a:srgbClr val="F5F0E8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2E8B8B"/>
                </a:solidFill>
                <a:latin typeface="맑은 고딕"/>
              </a:defRPr>
            </a:pPr>
            <a:r>
              <a:t>[단기] 판 → 승/패 → 코인 + 경험치</a:t>
            </a:r>
          </a:p>
          <a:p>
            <a:pPr>
              <a:spcAft>
                <a:spcPts val="400"/>
              </a:spcAft>
              <a:defRPr sz="1400" b="0">
                <a:solidFill>
                  <a:srgbClr val="2E8B8B"/>
                </a:solidFill>
                <a:latin typeface="맑은 고딕"/>
              </a:defRPr>
            </a:pPr>
            <a:r>
              <a:t>[중기] 레벨업 → 코스메틱 → ELO 랭크 승급</a:t>
            </a:r>
          </a:p>
          <a:p>
            <a:pPr>
              <a:spcAft>
                <a:spcPts val="400"/>
              </a:spcAft>
              <a:defRPr sz="1400" b="0">
                <a:solidFill>
                  <a:srgbClr val="2E8B8B"/>
                </a:solidFill>
                <a:latin typeface="맑은 고딕"/>
              </a:defRPr>
            </a:pPr>
            <a:r>
              <a:t>[장기] 시즌 보상 → 배틀패스 → 콜렉션 완성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384048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88720"/>
                <a:gridCol w="246888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목표 시간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매칭 대기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30초 이내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ELO ±50 → 확장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게임 플레이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3-5분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4라운드 + 3드로우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결과/보상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20-30초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쇼다운 + 보상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맑은 고딕"/>
              </a:defRPr>
            </a:pPr>
            <a:r>
              <a:t>족보 (Hand Rankings) — 낮을수록 강함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급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족보명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예시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메이드 (Badugi)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4장 무늬+숫자 모두 다름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A♠2♣3♦4♥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2급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베이스 (Three-Card)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3장만 다른 무늬/숫자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A♠2♣3♦3♥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투베이스 (Two-Card)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2장씩 쌍으로 중복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A♠2♣A♦2♥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4급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노페어 (One-Card)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모두 같은 무늬 or 숫자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A♠2♠3♠4♠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0" y="12801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C9A84C"/>
                </a:solidFill>
                <a:latin typeface="맑은 고딕"/>
              </a:defRPr>
            </a:pPr>
            <a:r>
              <a:t>메이드 내 순위 (최강 → 최약)</a:t>
            </a:r>
          </a:p>
          <a:p>
            <a:pPr>
              <a:spcAft>
                <a:spcPts val="400"/>
              </a:spcAft>
              <a:defRPr sz="600" b="0">
                <a:solidFill>
                  <a:srgbClr val="F5F0E8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FFD700"/>
                </a:solidFill>
                <a:latin typeface="맑은 고딕"/>
              </a:defRPr>
            </a:pPr>
            <a:r>
              <a:t>1위  골프 (Perfect): A-2-3-4</a:t>
            </a:r>
          </a:p>
          <a:p>
            <a:pPr>
              <a:spcAft>
                <a:spcPts val="400"/>
              </a:spcAft>
              <a:defRPr sz="1500" b="0">
                <a:solidFill>
                  <a:srgbClr val="F5F0E8"/>
                </a:solidFill>
                <a:latin typeface="맑은 고딕"/>
              </a:defRPr>
            </a:pPr>
            <a:r>
              <a:t>2위  Second: A-2-3-5</a:t>
            </a:r>
          </a:p>
          <a:p>
            <a:pPr>
              <a:spcAft>
                <a:spcPts val="400"/>
              </a:spcAft>
              <a:defRPr sz="1500" b="0">
                <a:solidFill>
                  <a:srgbClr val="F5F0E8"/>
                </a:solidFill>
                <a:latin typeface="맑은 고딕"/>
              </a:defRPr>
            </a:pPr>
            <a:r>
              <a:t>3위  Third: A-2-4-5</a:t>
            </a:r>
          </a:p>
          <a:p>
            <a:pPr>
              <a:spcAft>
                <a:spcPts val="400"/>
              </a:spcAft>
              <a:defRPr sz="1500" b="0">
                <a:solidFill>
                  <a:srgbClr val="AAAAAA"/>
                </a:solidFill>
                <a:latin typeface="맑은 고딕"/>
              </a:defRPr>
            </a:pPr>
            <a:r>
              <a:t>...  가장 높은 카드부터 비교</a:t>
            </a:r>
          </a:p>
          <a:p>
            <a:pPr>
              <a:spcAft>
                <a:spcPts val="400"/>
              </a:spcAft>
              <a:defRPr sz="1500" b="0">
                <a:solidFill>
                  <a:srgbClr val="CC3333"/>
                </a:solidFill>
                <a:latin typeface="맑은 고딕"/>
              </a:defRPr>
            </a:pPr>
            <a:r>
              <a:t>최약  K-high: K-Q-J-10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C9A84C"/>
                </a:solidFill>
                <a:latin typeface="맑은 고딕"/>
              </a:defRPr>
            </a:pPr>
            <a:r>
              <a:t>Luck vs Skill 비율</a:t>
            </a:r>
          </a:p>
          <a:p>
            <a:pPr>
              <a:spcAft>
                <a:spcPts val="400"/>
              </a:spcAft>
              <a:defRPr sz="1400" b="0">
                <a:solidFill>
                  <a:srgbClr val="F5F0E8"/>
                </a:solidFill>
                <a:latin typeface="맑은 고딕"/>
              </a:defRPr>
            </a:pPr>
            <a:r>
              <a:t>  종합: Luck 40% / Skill 60%  |  초기 핸드: Luck 60%  |  드로우: Skill 60%  |  베팅/블러핑: Skill 80%</a:t>
            </a:r>
          </a:p>
          <a:p>
            <a:pPr>
              <a:spcAft>
                <a:spcPts val="400"/>
              </a:spcAft>
              <a:defRPr sz="600" b="0">
                <a:solidFill>
                  <a:srgbClr val="F5F0E8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AAAAAA"/>
                </a:solidFill>
                <a:latin typeface="맑은 고딕"/>
              </a:defRPr>
            </a:pPr>
            <a:r>
              <a:t>블라인드: 연습 10/20  |  일반 50/100  |  하이롤러 500/1,000</a:t>
            </a:r>
          </a:p>
          <a:p>
            <a:pPr>
              <a:spcAft>
                <a:spcPts val="400"/>
              </a:spcAft>
              <a:defRPr sz="1400" b="0">
                <a:solidFill>
                  <a:srgbClr val="AAAAAA"/>
                </a:solidFill>
                <a:latin typeface="맑은 고딕"/>
              </a:defRPr>
            </a:pPr>
            <a:r>
              <a:t>시간 제한: 베팅 20초, 드로우 15초, 경고 5초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C9A84C"/>
                </a:solidFill>
                <a:latin typeface="맑은 고딕"/>
              </a:defRPr>
            </a:pPr>
            <a:r>
              <a:t>03. UI/UX 플로우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5F0E8"/>
                </a:solidFill>
                <a:latin typeface="맑은 고딕"/>
              </a:defRPr>
            </a:pPr>
            <a:r>
              <a:t>UI/UX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657600"/>
            <a:ext cx="45720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맑은 고딕"/>
              </a:defRPr>
            </a:pPr>
            <a:r>
              <a:t>전체 화면 맵 (10개 화면)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C9A84C"/>
                </a:solidFill>
                <a:latin typeface="맑은 고딕"/>
              </a:defRPr>
            </a:pPr>
            <a:r>
              <a:t>핵심 플로우</a:t>
            </a:r>
          </a:p>
          <a:p>
            <a:pPr>
              <a:spcAft>
                <a:spcPts val="400"/>
              </a:spcAft>
              <a:defRPr sz="600" b="0">
                <a:solidFill>
                  <a:srgbClr val="F5F0E8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5F0E8"/>
                </a:solidFill>
                <a:latin typeface="맑은 고딕"/>
              </a:defRPr>
            </a:pPr>
            <a:r>
              <a:t>1. 스플래시 → 로그인/소셜 인증</a:t>
            </a:r>
          </a:p>
          <a:p>
            <a:pPr>
              <a:spcAft>
                <a:spcPts val="400"/>
              </a:spcAft>
              <a:defRPr sz="1400" b="0">
                <a:solidFill>
                  <a:srgbClr val="F5F0E8"/>
                </a:solidFill>
                <a:latin typeface="맑은 고딕"/>
              </a:defRPr>
            </a:pPr>
            <a:r>
              <a:t>2. 신규 유저 → 튜토리얼 (5단계, 스킵 불가)</a:t>
            </a:r>
          </a:p>
          <a:p>
            <a:pPr>
              <a:spcAft>
                <a:spcPts val="400"/>
              </a:spcAft>
              <a:defRPr sz="1400" b="0">
                <a:solidFill>
                  <a:srgbClr val="F5F0E8"/>
                </a:solidFill>
                <a:latin typeface="맑은 고딕"/>
              </a:defRPr>
            </a:pPr>
            <a:r>
              <a:t>3. 메인 로비 (홈)</a:t>
            </a:r>
          </a:p>
          <a:p>
            <a:pPr>
              <a:spcAft>
                <a:spcPts val="400"/>
              </a:spcAft>
              <a:defRPr sz="1400" b="0">
                <a:solidFill>
                  <a:srgbClr val="F5F0E8"/>
                </a:solidFill>
                <a:latin typeface="맑은 고딕"/>
              </a:defRPr>
            </a:pPr>
            <a:r>
              <a:t>4. 게임 모드 선택:</a:t>
            </a:r>
          </a:p>
          <a:p>
            <a:pPr>
              <a:spcAft>
                <a:spcPts val="400"/>
              </a:spcAft>
              <a:defRPr sz="1300" b="0">
                <a:solidFill>
                  <a:srgbClr val="2E8B8B"/>
                </a:solidFill>
                <a:latin typeface="맑은 고딕"/>
              </a:defRPr>
            </a:pPr>
            <a:r>
              <a:t>   - AI 대전 (난이도 3단계)</a:t>
            </a:r>
          </a:p>
          <a:p>
            <a:pPr>
              <a:spcAft>
                <a:spcPts val="400"/>
              </a:spcAft>
              <a:defRPr sz="1300" b="0">
                <a:solidFill>
                  <a:srgbClr val="2E8B8B"/>
                </a:solidFill>
                <a:latin typeface="맑은 고딕"/>
              </a:defRPr>
            </a:pPr>
            <a:r>
              <a:t>   - 랭크 매치 (ELO 기반 매칭)</a:t>
            </a:r>
          </a:p>
          <a:p>
            <a:pPr>
              <a:spcAft>
                <a:spcPts val="400"/>
              </a:spcAft>
              <a:defRPr sz="1300" b="0">
                <a:solidFill>
                  <a:srgbClr val="2E8B8B"/>
                </a:solidFill>
                <a:latin typeface="맑은 고딕"/>
              </a:defRPr>
            </a:pPr>
            <a:r>
              <a:t>   - 친구 대전 (방 생성 + 링크 초대)</a:t>
            </a:r>
          </a:p>
          <a:p>
            <a:pPr>
              <a:spcAft>
                <a:spcPts val="400"/>
              </a:spcAft>
              <a:defRPr sz="1300" b="0">
                <a:solidFill>
                  <a:srgbClr val="AAAAAA"/>
                </a:solidFill>
                <a:latin typeface="맑은 고딕"/>
              </a:defRPr>
            </a:pPr>
            <a:r>
              <a:t>   - 일반 매치 (P1)</a:t>
            </a:r>
          </a:p>
          <a:p>
            <a:pPr>
              <a:spcAft>
                <a:spcPts val="400"/>
              </a:spcAft>
              <a:defRPr sz="1300" b="0">
                <a:solidFill>
                  <a:srgbClr val="AAAAAA"/>
                </a:solidFill>
                <a:latin typeface="맑은 고딕"/>
              </a:defRPr>
            </a:pPr>
            <a:r>
              <a:t>   - 토너먼트 (P2)</a:t>
            </a:r>
          </a:p>
          <a:p>
            <a:pPr>
              <a:spcAft>
                <a:spcPts val="400"/>
              </a:spcAft>
              <a:defRPr sz="1400" b="0">
                <a:solidFill>
                  <a:srgbClr val="F5F0E8"/>
                </a:solidFill>
                <a:latin typeface="맑은 고딕"/>
              </a:defRPr>
            </a:pPr>
            <a:r>
              <a:t>5. 게임 테이블 → 쇼다운 → 결과/보상</a:t>
            </a:r>
          </a:p>
          <a:p>
            <a:pPr>
              <a:spcAft>
                <a:spcPts val="400"/>
              </a:spcAft>
              <a:defRPr sz="600" b="0">
                <a:solidFill>
                  <a:srgbClr val="F5F0E8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AAAAAA"/>
                </a:solidFill>
                <a:latin typeface="맑은 고딕"/>
              </a:defRPr>
            </a:pPr>
            <a:r>
              <a:t>하단 탭바: 홈 / 상점 / 콜렉션 / 랭킹 / 프로필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C9A84C"/>
                </a:solidFill>
                <a:latin typeface="맑은 고딕"/>
              </a:defRPr>
            </a:pPr>
            <a:r>
              <a:t>주요 화면 상세</a:t>
            </a:r>
          </a:p>
          <a:p>
            <a:pPr>
              <a:spcAft>
                <a:spcPts val="400"/>
              </a:spcAft>
              <a:defRPr sz="600" b="0">
                <a:solidFill>
                  <a:srgbClr val="F5F0E8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5F0E8"/>
                </a:solidFill>
                <a:latin typeface="맑은 고딕"/>
              </a:defRPr>
            </a:pPr>
            <a:r>
              <a:t>메인 로비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상단바: 코인/젬 잔액, 프로필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중앙: 게임 모드 버튼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시즌 패스 진행도 + 일일 미션 알림</a:t>
            </a:r>
          </a:p>
          <a:p>
            <a:pPr>
              <a:spcAft>
                <a:spcPts val="400"/>
              </a:spcAft>
              <a:defRPr sz="600" b="0">
                <a:solidFill>
                  <a:srgbClr val="F5F0E8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5F0E8"/>
                </a:solidFill>
                <a:latin typeface="맑은 고딕"/>
              </a:defRPr>
            </a:pPr>
            <a:r>
              <a:t>게임 테이블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상대 핸드(뒷면) / 팟 정보 / 드로우 단계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내 핸드(앞면) + 족보 자동 계산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Fold/Check/Call/Raise/All-in 버튼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금액 슬라이더 + 타이머 바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이모지 채팅 (텍스트 X)</a:t>
            </a:r>
          </a:p>
          <a:p>
            <a:pPr>
              <a:spcAft>
                <a:spcPts val="400"/>
              </a:spcAft>
              <a:defRPr sz="600" b="0">
                <a:solidFill>
                  <a:srgbClr val="F5F0E8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친구 대전: 방 생성 + 딥링크 초대</a:t>
            </a:r>
          </a:p>
          <a:p>
            <a:pPr>
              <a:spcAft>
                <a:spcPts val="400"/>
              </a:spcAft>
              <a:defRPr sz="1200" b="0">
                <a:solidFill>
                  <a:srgbClr val="2E8B8B"/>
                </a:solidFill>
                <a:latin typeface="맑은 고딕"/>
              </a:defRPr>
            </a:pPr>
            <a:r>
              <a:t>  baduki://room/{roomCode}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C9A84C"/>
                </a:solidFill>
                <a:latin typeface="맑은 고딕"/>
              </a:defRPr>
            </a:pPr>
            <a:r>
              <a:t>04-05. 아트 &amp; 오디오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5F0E8"/>
                </a:solidFill>
                <a:latin typeface="맑은 고딕"/>
              </a:defRPr>
            </a:pPr>
            <a:r>
              <a:t>Art Direction &amp; Audio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657600"/>
            <a:ext cx="45720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맑은 고딕"/>
              </a:defRPr>
            </a:pPr>
            <a:r>
              <a:t>비주얼 스타일 &amp; 에셋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C9A84C"/>
                </a:solidFill>
                <a:latin typeface="맑은 고딕"/>
              </a:defRPr>
            </a:pPr>
            <a:r>
              <a:t>모던 프리미엄 (Modern Premium)</a:t>
            </a:r>
          </a:p>
          <a:p>
            <a:pPr>
              <a:spcAft>
                <a:spcPts val="400"/>
              </a:spcAft>
              <a:defRPr sz="600" b="0">
                <a:solidFill>
                  <a:srgbClr val="F5F0E8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5F0E8"/>
                </a:solidFill>
                <a:latin typeface="맑은 고딕"/>
              </a:defRPr>
            </a:pPr>
            <a:r>
              <a:t>깔끔한 레이아웃 + 고급 질감 + 부드러운 애니메이션</a:t>
            </a:r>
          </a:p>
          <a:p>
            <a:pPr>
              <a:spcAft>
                <a:spcPts val="400"/>
              </a:spcAft>
              <a:defRPr sz="600" b="0">
                <a:solidFill>
                  <a:srgbClr val="F5F0E8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F5F0E8"/>
                </a:solidFill>
                <a:latin typeface="맑은 고딕"/>
              </a:defRPr>
            </a:pPr>
            <a:r>
              <a:t>레퍼런스:</a:t>
            </a:r>
          </a:p>
          <a:p>
            <a:pPr>
              <a:spcAft>
                <a:spcPts val="400"/>
              </a:spcAft>
              <a:defRPr sz="1300" b="0">
                <a:solidFill>
                  <a:srgbClr val="AAAAAA"/>
                </a:solidFill>
                <a:latin typeface="맑은 고딕"/>
              </a:defRPr>
            </a:pPr>
            <a:r>
              <a:t>  레이아웃: Balatro (깔끔한 카드 배치)</a:t>
            </a:r>
          </a:p>
          <a:p>
            <a:pPr>
              <a:spcAft>
                <a:spcPts val="400"/>
              </a:spcAft>
              <a:defRPr sz="1300" b="0">
                <a:solidFill>
                  <a:srgbClr val="AAAAAA"/>
                </a:solidFill>
                <a:latin typeface="맑은 고딕"/>
              </a:defRPr>
            </a:pPr>
            <a:r>
              <a:t>  질감: 프리미엄 카지노 앱 (펠트, 골드 악센트)</a:t>
            </a:r>
          </a:p>
          <a:p>
            <a:pPr>
              <a:spcAft>
                <a:spcPts val="400"/>
              </a:spcAft>
              <a:defRPr sz="1300" b="0">
                <a:solidFill>
                  <a:srgbClr val="AAAAAA"/>
                </a:solidFill>
                <a:latin typeface="맑은 고딕"/>
              </a:defRPr>
            </a:pPr>
            <a:r>
              <a:t>  애니메이션: Marvel SNAP (부드러운 카드 플립)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365760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73736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용도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색상명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HEX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배경 (테이블)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Deep Felt 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#1A3A2A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배경 (로비)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Midnight Navy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#0D1B2A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주요 액션 버튼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Premium Gold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#C9A84C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승리 강조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Vibrant Gold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#FFD700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카드 배경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Pure White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#FFFFFF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UI 텍스트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Light Cream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#F5F0E8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C9A84C"/>
                </a:solidFill>
                <a:latin typeface="맑은 고딕"/>
              </a:defRPr>
            </a:pPr>
            <a:r>
              <a:t>에셋 가이드 (Unity AI Generators)</a:t>
            </a:r>
          </a:p>
          <a:p>
            <a:pPr>
              <a:spcAft>
                <a:spcPts val="400"/>
              </a:spcAft>
              <a:defRPr sz="600" b="0">
                <a:solidFill>
                  <a:srgbClr val="F5F0E8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카드 기본 덱: 52장 (256x384px)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카드 뒷면: 5종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코스메틱 카드 스킨: 20종+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테이블 배경: 5종 (1920x1080px)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UI 아이콘: 50종+ (64x64px)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아바타: 20종 (128x128px)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이모지: 30종 (64x64px)</a:t>
            </a:r>
          </a:p>
          <a:p>
            <a:pPr>
              <a:spcAft>
                <a:spcPts val="400"/>
              </a:spcAft>
              <a:defRPr sz="600" b="0">
                <a:solidFill>
                  <a:srgbClr val="F5F0E8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2E8B8B"/>
                </a:solidFill>
                <a:latin typeface="맑은 고딕"/>
              </a:defRPr>
            </a:pPr>
            <a:r>
              <a:t>Sprite Atlas (ASTC 6x6 압축 → 메모리 75% 절감)</a:t>
            </a:r>
          </a:p>
          <a:p>
            <a:pPr>
              <a:spcAft>
                <a:spcPts val="400"/>
              </a:spcAft>
              <a:defRPr sz="1000" b="0">
                <a:solidFill>
                  <a:srgbClr val="F5F0E8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C9A84C"/>
                </a:solidFill>
                <a:latin typeface="맑은 고딕"/>
              </a:defRPr>
            </a:pPr>
            <a:r>
              <a:t>오디오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BGM: 재즈 피아노(로비), 미니멀 일렉트로닉(게임)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SFX: 카드/칩/버튼 13종 (P0) — Unity AI Generators</a:t>
            </a:r>
          </a:p>
          <a:p>
            <a:pPr>
              <a:spcAft>
                <a:spcPts val="400"/>
              </a:spcAft>
              <a:defRPr sz="1300" b="0">
                <a:solidFill>
                  <a:srgbClr val="AAAAAA"/>
                </a:solidFill>
                <a:latin typeface="맑은 고딕"/>
              </a:defRPr>
            </a:pPr>
            <a:r>
              <a:t>  기본 음량: BGM 40% / SFX 70%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C9A84C"/>
                </a:solidFill>
                <a:latin typeface="맑은 고딕"/>
              </a:defRPr>
            </a:pPr>
            <a:r>
              <a:t>06. 경제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5F0E8"/>
                </a:solidFill>
                <a:latin typeface="맑은 고딕"/>
              </a:defRPr>
            </a:pPr>
            <a:r>
              <a:t>Economy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657600"/>
            <a:ext cx="45720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맑은 고딕"/>
              </a:defRPr>
            </a:pPr>
            <a:r>
              <a:t>통화 시스템 &amp; 수익화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5029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011680"/>
                <a:gridCol w="1828800"/>
              </a:tblGrid>
              <a:tr h="40233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통화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획득 방법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사용처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코인 (기본)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일일 보너스, 승리, 광고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테이블 참가비, 코스메틱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젬 (프리미엄)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IAP 구매, 배틀패스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코스메틱, 탄 구매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BP 포인트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게임 참가, 미션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배틀패스 보상 해금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이벤트 토큰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이벤트 참여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이벤트 상점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18872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731520"/>
                <a:gridCol w="292608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수익원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비중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코스메틱 IAP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카드 스킨, 보드, 이모지, 프로필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리워드 광고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패배 후 코인, 일일 무료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배틀패스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시즌 프리미엄 트랙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VIP 구독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광고 제거 + 일일 보너스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47472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CC3333"/>
                </a:solidFill>
                <a:latin typeface="맑은 고딕"/>
              </a:defRPr>
            </a:pPr>
            <a:r>
              <a:t>탄 시스템 (피처 플래그 의존)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심의 시: FEATURE_TAN_SYSTEM = false (완전 비활성화)  |  서비스 시: 관리자 툴에서 ON</a:t>
            </a:r>
          </a:p>
          <a:p>
            <a:pPr>
              <a:spcAft>
                <a:spcPts val="400"/>
              </a:spcAft>
              <a:defRPr sz="800" b="0">
                <a:solidFill>
                  <a:srgbClr val="F5F0E8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C9A84C"/>
                </a:solidFill>
                <a:latin typeface="맑은 고딕"/>
              </a:defRPr>
            </a:pPr>
            <a:r>
              <a:t>인앱 구매 주요 항목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카드 스킨 4종: ₩1,990~₩2,490 / 번들 ₩6,990  |  보드 테마: ₩1,490~₩1,990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젬 충전: ₩1,200(100젬) ~ ₩59,000(7,000젬+40%)  |  배틀패스: ₩4,900/시즌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VIP 구독: ₩2,900/월 (광고제거+일일 100젬)  |  탄 콤보 팩: ₩2,490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맑은 고딕"/>
              </a:defRPr>
            </a:pPr>
            <a:r>
              <a:t>LTV/ARPU 목표 &amp; ELO 시스템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5029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88720"/>
                <a:gridCol w="2468880"/>
              </a:tblGrid>
              <a:tr h="3556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지표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목표값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기준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D1 리텐션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40%+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소프트 런치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D7 리텐션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20%+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소프트 런치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D30 리텐션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10%+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정식 출시 1개월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ARPU (월)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$1-3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정식 출시 3개월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ARPPU (월)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$15-25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Dolphin 기준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유료 전환율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3%+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소프트 런치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DAU/MAU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20%+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정식 출시 3개월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BEP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MAU 10,000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$20K/월 운영비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18872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22860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ELO 범위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티어명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K값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900 미만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브론즈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64 (신규)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900-1100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실버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1100-1300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골드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1300-1500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플래티넘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1500-1700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다이아몬드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1700+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레전드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4114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C9A84C"/>
                </a:solidFill>
                <a:latin typeface="맑은 고딕"/>
              </a:defRPr>
            </a:pPr>
            <a:r>
              <a:t>시즌 리셋 공식</a:t>
            </a:r>
          </a:p>
          <a:p>
            <a:pPr>
              <a:spcAft>
                <a:spcPts val="400"/>
              </a:spcAft>
              <a:defRPr sz="1300" b="0">
                <a:solidFill>
                  <a:srgbClr val="2E8B8B"/>
                </a:solidFill>
                <a:latin typeface="맑은 고딕"/>
              </a:defRPr>
            </a:pPr>
            <a:r>
              <a:t>  리셋 ELO = 900 + (이전 ELO - 900) x 0.75</a:t>
            </a:r>
          </a:p>
          <a:p>
            <a:pPr>
              <a:spcAft>
                <a:spcPts val="40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  예: 1400 → 1275  |  1700 → 1500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C9A84C"/>
                </a:solidFill>
                <a:latin typeface="맑은 고딕"/>
              </a:defRPr>
            </a:pPr>
            <a:r>
              <a:t>07. 콘텐츠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5F0E8"/>
                </a:solidFill>
                <a:latin typeface="맑은 고딕"/>
              </a:defRPr>
            </a:pPr>
            <a:r>
              <a:t>Content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657600"/>
            <a:ext cx="45720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맑은 고딕"/>
              </a:defRPr>
            </a:pPr>
            <a:r>
              <a:t>게임 모드 &amp; AI 봇 &amp; 시즌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1097280"/>
                <a:gridCol w="210312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모드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우선순위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출시 시기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ELO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대전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출시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튜토리얼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출시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랭크 매치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출시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친구 대전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출시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일반 매치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+1개월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토너먼트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+3개월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0" y="118872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731520"/>
                <a:gridCol w="155448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난이도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알고리즘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블러핑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잠금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Easy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Rule-Based LUT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없음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Heuristic+MCTS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20-30%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없음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Hard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CFR (Inference Engine)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GTO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+1개월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9319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C9A84C"/>
                </a:solidFill>
                <a:latin typeface="맑은 고딕"/>
              </a:defRPr>
            </a:pPr>
            <a:r>
              <a:t>시즌 시스템 (월간)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1일: 시작 (ELO 소프트 리셋 75%)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1-25일: 랭크 매치 + 배틀패스 미션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26-28일: 종료 예고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말일: 결산 + 보상 지급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474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C9A84C"/>
                </a:solidFill>
                <a:latin typeface="맑은 고딕"/>
              </a:defRPr>
            </a:pPr>
            <a:r>
              <a:t>시즌별 특수 모드 (P1 이후)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S2: 인디언 바둑이 (5장→4장 선택)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S3: 하이로우 바둑이 (팟 50:50)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S4: 스피드 바둑이 (턴 5초)</a:t>
            </a:r>
          </a:p>
          <a:p>
            <a:pPr>
              <a:spcAft>
                <a:spcPts val="400"/>
              </a:spcAft>
              <a:defRPr sz="600" b="0">
                <a:solidFill>
                  <a:srgbClr val="F5F0E8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AAAAAA"/>
                </a:solidFill>
                <a:latin typeface="맑은 고딕"/>
              </a:defRPr>
            </a:pPr>
            <a:r>
              <a:t>배틀패스: 무료 30단계 + 프리미엄 30단계 (₩4,900)</a:t>
            </a:r>
          </a:p>
          <a:p>
            <a:pPr>
              <a:spcAft>
                <a:spcPts val="400"/>
              </a:spcAft>
              <a:defRPr sz="1300" b="0">
                <a:solidFill>
                  <a:srgbClr val="AAAAAA"/>
                </a:solidFill>
                <a:latin typeface="맑은 고딕"/>
              </a:defRPr>
            </a:pPr>
            <a:r>
              <a:t>소셜: 친구 시스템 + 이모지 채팅 + 리더보드 3종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C9A84C"/>
                </a:solidFill>
                <a:latin typeface="맑은 고딕"/>
              </a:defRPr>
            </a:pPr>
            <a:r>
              <a:t>08. 기술 요구사항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5F0E8"/>
                </a:solidFill>
                <a:latin typeface="맑은 고딕"/>
              </a:defRPr>
            </a:pPr>
            <a:r>
              <a:t>Technical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657600"/>
            <a:ext cx="45720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맑은 고딕"/>
              </a:defRPr>
            </a:pPr>
            <a:r>
              <a:t>기술 스택 &amp; 아키텍처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828800"/>
                <a:gridCol w="2103120"/>
              </a:tblGrid>
              <a:tr h="381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선택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근거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게임 엔진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Unity 6.3 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크로스플랫폼, Unity AI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언어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C# (.NET 7+)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Unity 표준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렌더러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2D Renderer (URP)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카드 게임 최적화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UI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UI Toolkit + TMP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모던 UI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추론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Unity Inference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온디바이스 CFR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0" y="1188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C9A84C"/>
                </a:solidFill>
                <a:latin typeface="맑은 고딕"/>
              </a:defRPr>
            </a:pPr>
            <a:r>
              <a:t>Unity AI 3대 기능 적용</a:t>
            </a:r>
          </a:p>
          <a:p>
            <a:pPr>
              <a:spcAft>
                <a:spcPts val="400"/>
              </a:spcAft>
              <a:defRPr sz="600" b="0">
                <a:solidFill>
                  <a:srgbClr val="F5F0E8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2E8B8B"/>
                </a:solidFill>
                <a:latin typeface="맑은 고딕"/>
              </a:defRPr>
            </a:pPr>
            <a:r>
              <a:t>AI Assistant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코드 생성, 씬 구성, 디버깅</a:t>
            </a:r>
          </a:p>
          <a:p>
            <a:pPr>
              <a:spcAft>
                <a:spcPts val="400"/>
              </a:spcAft>
              <a:defRPr sz="1400" b="1">
                <a:solidFill>
                  <a:srgbClr val="2E8B8B"/>
                </a:solidFill>
                <a:latin typeface="맑은 고딕"/>
              </a:defRPr>
            </a:pPr>
            <a:r>
              <a:t>AI Generators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카드 52장, 배경 5종, 이모지 30종, SFX</a:t>
            </a:r>
          </a:p>
          <a:p>
            <a:pPr>
              <a:spcAft>
                <a:spcPts val="400"/>
              </a:spcAft>
              <a:defRPr sz="1400" b="1">
                <a:solidFill>
                  <a:srgbClr val="2E8B8B"/>
                </a:solidFill>
                <a:latin typeface="맑은 고딕"/>
              </a:defRPr>
            </a:pPr>
            <a:r>
              <a:t>Inference Engine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Hard AI 온디바이스 CFR 추론 (ONNX)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C9A84C"/>
                </a:solidFill>
                <a:latin typeface="맑은 고딕"/>
              </a:defRPr>
            </a:pPr>
            <a:r>
              <a:t>네트워크 아키텍처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Server-Authoritative (서버 권한)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WebSocket (TCP) — 턴 기반 적합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타임아웃: 연결 끊김 20초 → 자동 폴드</a:t>
            </a:r>
          </a:p>
          <a:p>
            <a:pPr>
              <a:spcAft>
                <a:spcPts val="400"/>
              </a:spcAft>
              <a:defRPr sz="600" b="0">
                <a:solidFill>
                  <a:srgbClr val="F5F0E8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AAAAAA"/>
                </a:solidFill>
                <a:latin typeface="맑은 고딕"/>
              </a:defRPr>
            </a:pPr>
            <a:r>
              <a:t>Phase 1: Unity Netcode ($0)</a:t>
            </a:r>
          </a:p>
          <a:p>
            <a:pPr>
              <a:spcAft>
                <a:spcPts val="400"/>
              </a:spcAft>
              <a:defRPr sz="1300" b="0">
                <a:solidFill>
                  <a:srgbClr val="AAAAAA"/>
                </a:solidFill>
                <a:latin typeface="맑은 고딕"/>
              </a:defRPr>
            </a:pPr>
            <a:r>
              <a:t>Phase 2: Photon Fusion ($0, 100 CCU)</a:t>
            </a:r>
          </a:p>
          <a:p>
            <a:pPr>
              <a:spcAft>
                <a:spcPts val="400"/>
              </a:spcAft>
              <a:defRPr sz="1300" b="0">
                <a:solidFill>
                  <a:srgbClr val="AAAAAA"/>
                </a:solidFill>
                <a:latin typeface="맑은 고딕"/>
              </a:defRPr>
            </a:pPr>
            <a:r>
              <a:t>Phase 3: Photon 업그레이드 ($95/년+)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384048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22860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성능 목표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값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프레임레이트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30 FPS (모바일)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60 FPS (PC)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메모리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&lt; 200MB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초기 로딩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&lt; 3초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스플래시→로비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앱 크기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&lt; 100MB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초기 다운로드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맑은 고딕"/>
              </a:defRPr>
            </a:pPr>
            <a:r>
              <a:t>백엔드 &amp; 제3자 서비스 &amp; 비용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1828800"/>
              </a:tblGrid>
              <a:tr h="3429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서비스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도구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인증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Firebase 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데이터베이스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Firebase Firestore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실시간 동기화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Firebase Realtime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분석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Firebase Analytics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서버리스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Cloud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1-2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관리자 백엔드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Node.js + Express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관리자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PostgreSQL + Redis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188720"/>
          <a:ext cx="5029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2286000"/>
              </a:tblGrid>
              <a:tr h="4000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서비스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Phase 1 비용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Phase 2 비용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Firebase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$0 (Spark)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$50-200/월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Photon Fusion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$0 (100 CCU)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Unity AI 전체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$0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Google Play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$25 (1회)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Apple 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$99/년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$99/년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AdMob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수익 30% 공유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GitHub Actions CI/CD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$0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3891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C9A84C"/>
                </a:solidFill>
                <a:latin typeface="맑은 고딕"/>
              </a:defRPr>
            </a:pPr>
            <a:r>
              <a:t>AI 모델 파이프라인 (Hard AI)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Python CFR 학습 → ONNX 내보내기 → Unity Inference Engine → 런타임 추론 (&lt;10ms NPU / &lt;50ms CPU)</a:t>
            </a:r>
          </a:p>
          <a:p>
            <a:pPr>
              <a:spcAft>
                <a:spcPts val="400"/>
              </a:spcAft>
              <a:defRPr sz="1300" b="0">
                <a:solidFill>
                  <a:srgbClr val="AAAAAA"/>
                </a:solidFill>
                <a:latin typeface="맑은 고딕"/>
              </a:defRPr>
            </a:pPr>
            <a:r>
              <a:t>  모델 입력: 핸드 인코딩 208차원 + 공개 정보 ≈ 230차원  |  목표 크기: 50MB 이하 (float16)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C9A84C"/>
                </a:solidFill>
                <a:latin typeface="맑은 고딕"/>
              </a:defRPr>
            </a:pPr>
            <a:r>
              <a:t>09. 관리자 도구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5F0E8"/>
                </a:solidFill>
                <a:latin typeface="맑은 고딕"/>
              </a:defRPr>
            </a:pPr>
            <a:r>
              <a:t>Admin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657600"/>
            <a:ext cx="45720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맑은 고딕"/>
              </a:defRPr>
            </a:pPr>
            <a:r>
              <a:t>관리자 도구 — 서비스와 동등 레벨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C9A84C"/>
                </a:solidFill>
                <a:latin typeface="맑은 고딕"/>
              </a:defRPr>
            </a:pPr>
            <a:r>
              <a:t>기술 스택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React 18 + TypeScript + Tailwind CSS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Node.js + Express + PostgreSQL + Redis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WebSocket + Socket.IO (실시간)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  Docker + Nginx (배포)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301752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18872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P0 기능 (출시 전)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P1 기능 (+1개월)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1A3A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유저 조회/상세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블라인드 구조 조정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계정 제재 (경고~밴)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난이도 파라미터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코인 지급 (로그)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리워드 테이블 조정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실시간 모니터링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ELO K값 조정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신고 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피처 플래그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188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CC3333"/>
                </a:solidFill>
                <a:latin typeface="맑은 고딕"/>
              </a:defRPr>
            </a:pPr>
            <a:r>
              <a:t>피처 플래그 (핵심)</a:t>
            </a:r>
          </a:p>
          <a:p>
            <a:pPr>
              <a:spcAft>
                <a:spcPts val="400"/>
              </a:spcAft>
              <a:defRPr sz="600" b="0">
                <a:solidFill>
                  <a:srgbClr val="F5F0E8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FEATURE_TAN_SYSTEM    OFF (심의 핵심)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FEATURE_TOURNAMENT    OFF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FEATURE_HARD_AI       OFF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FEATURE_SEASON_SPECIAL OFF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FEATURE_MAINTENANCE   OFF</a:t>
            </a:r>
          </a:p>
          <a:p>
            <a:pPr>
              <a:spcAft>
                <a:spcPts val="400"/>
              </a:spcAft>
              <a:defRPr sz="1300" b="0">
                <a:solidFill>
                  <a:srgbClr val="F5F0E8"/>
                </a:solidFill>
                <a:latin typeface="맑은 고딕"/>
              </a:defRPr>
            </a:pPr>
            <a:r>
              <a:t>FEATURE_NEW_USER_GIFT  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3931920"/>
          <a:ext cx="5029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657600"/>
              </a:tblGrid>
              <a:tr h="40233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역할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권한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Super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전체 기능 (플래그 포함)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운영자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유저 관리, 신고, 모니터링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CS 담당자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유저 조회, 신고 (밴 불가)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분석가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읽기 전용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C9A84C"/>
                </a:solidFill>
                <a:latin typeface="맑은 고딕"/>
              </a:defRPr>
            </a:pPr>
            <a:r>
              <a:t>10. 리스크 &amp; 법률/심의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5F0E8"/>
                </a:solidFill>
                <a:latin typeface="맑은 고딕"/>
              </a:defRPr>
            </a:pPr>
            <a:r>
              <a:t>Risk &amp; Legal/Rating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657600"/>
            <a:ext cx="45720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맑은 고딕"/>
              </a:defRPr>
            </a:pPr>
            <a:r>
              <a:t>리스크 &amp; 법률/심의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640080"/>
                <a:gridCol w="2743200"/>
              </a:tblGrid>
              <a:tr h="381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기술 리스크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심각도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완화 전략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모델 크기 초과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float16 양자화, 서버 폴백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Firebase 비용 급증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중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비용 알림, 캐싱, 예산 한도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멀티플레이 동기화 버그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서버 권한 모델 + QA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빌드 파편화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중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실기기 테스트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Photon CCU 초과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10K DAU 도달 전 업그레이드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18872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40080"/>
                <a:gridCol w="301752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시장 리스크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심각도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완화 전략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한게임/피망 대응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로우 바둑이 전문 포지셔닝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도박 이미지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중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스킬 게임, 현금 환전 금지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유저 지불 의사 미검증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소프트 런치 A/B 테스트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840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C9A84C"/>
                </a:solidFill>
                <a:latin typeface="맑은 고딕"/>
              </a:defRPr>
            </a:pPr>
            <a:r>
              <a:t>GRAC 등급 심의</a:t>
            </a:r>
          </a:p>
          <a:p>
            <a:pPr>
              <a:spcAft>
                <a:spcPts val="400"/>
              </a:spcAft>
              <a:defRPr sz="1400" b="0">
                <a:solidFill>
                  <a:srgbClr val="F5F0E8"/>
                </a:solidFill>
                <a:latin typeface="맑은 고딕"/>
              </a:defRPr>
            </a:pPr>
            <a:r>
              <a:t>  목표 등급: 12세 이용가 (2군)</a:t>
            </a:r>
          </a:p>
          <a:p>
            <a:pPr>
              <a:spcAft>
                <a:spcPts val="400"/>
              </a:spcAft>
              <a:defRPr sz="1400" b="0">
                <a:solidFill>
                  <a:srgbClr val="F5F0E8"/>
                </a:solidFill>
                <a:latin typeface="맑은 고딕"/>
              </a:defRPr>
            </a:pPr>
            <a:r>
              <a:t>  포지셔닝: '스킬 게임'</a:t>
            </a:r>
          </a:p>
          <a:p>
            <a:pPr>
              <a:spcAft>
                <a:spcPts val="400"/>
              </a:spcAft>
              <a:defRPr sz="1400" b="0">
                <a:solidFill>
                  <a:srgbClr val="F5F0E8"/>
                </a:solidFill>
                <a:latin typeface="맑은 고딕"/>
              </a:defRPr>
            </a:pPr>
            <a:r>
              <a:t>  심의 비용: 100-150만원</a:t>
            </a:r>
          </a:p>
          <a:p>
            <a:pPr>
              <a:spcAft>
                <a:spcPts val="400"/>
              </a:spcAft>
              <a:defRPr sz="1400" b="0">
                <a:solidFill>
                  <a:srgbClr val="F5F0E8"/>
                </a:solidFill>
                <a:latin typeface="맑은 고딕"/>
              </a:defRPr>
            </a:pPr>
            <a:r>
              <a:t>  사전 협의 권장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474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C9A84C"/>
                </a:solidFill>
                <a:latin typeface="맑은 고딕"/>
              </a:defRPr>
            </a:pPr>
            <a:r>
              <a:t>규제 준수 (국내)</a:t>
            </a:r>
          </a:p>
          <a:p>
            <a:pPr>
              <a:spcAft>
                <a:spcPts val="400"/>
              </a:spcAft>
              <a:defRPr sz="1400" b="0">
                <a:solidFill>
                  <a:srgbClr val="F5F0E8"/>
                </a:solidFill>
                <a:latin typeface="맑은 고딕"/>
              </a:defRPr>
            </a:pPr>
            <a:r>
              <a:t>  확률형 아이템 공시 (2024.03~)</a:t>
            </a:r>
          </a:p>
          <a:p>
            <a:pPr>
              <a:spcAft>
                <a:spcPts val="400"/>
              </a:spcAft>
              <a:defRPr sz="1400" b="0">
                <a:solidFill>
                  <a:srgbClr val="F5F0E8"/>
                </a:solidFill>
                <a:latin typeface="맑은 고딕"/>
              </a:defRPr>
            </a:pPr>
            <a:r>
              <a:t>  구매 한도: 월 50만원, 일 10만원</a:t>
            </a:r>
          </a:p>
          <a:p>
            <a:pPr>
              <a:spcAft>
                <a:spcPts val="400"/>
              </a:spcAft>
              <a:defRPr sz="1400" b="0">
                <a:solidFill>
                  <a:srgbClr val="F5F0E8"/>
                </a:solidFill>
                <a:latin typeface="맑은 고딕"/>
              </a:defRPr>
            </a:pPr>
            <a:r>
              <a:t>  PIPA: 14세 미만 부모 동의</a:t>
            </a:r>
          </a:p>
          <a:p>
            <a:pPr>
              <a:spcAft>
                <a:spcPts val="400"/>
              </a:spcAft>
              <a:defRPr sz="1400" b="0">
                <a:solidFill>
                  <a:srgbClr val="CC3333"/>
                </a:solidFill>
                <a:latin typeface="맑은 고딕"/>
              </a:defRPr>
            </a:pPr>
            <a:r>
              <a:t>  사행행위 규제법: 현금 환전 절대 금지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맑은 고딕"/>
              </a:defRPr>
            </a:pPr>
            <a:r>
              <a:t>출시 로드맵 요약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3200400" cy="4114800"/>
          </a:xfrm>
          <a:prstGeom prst="roundRect">
            <a:avLst/>
          </a:prstGeom>
          <a:solidFill>
            <a:srgbClr val="1A3A2A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A84C"/>
                </a:solidFill>
                <a:latin typeface="맑은 고딕"/>
              </a:defRPr>
            </a:pPr>
            <a: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F0E8"/>
                </a:solidFill>
                <a:latin typeface="맑은 고딕"/>
              </a:defRPr>
            </a:pPr>
            <a:r>
              <a:t>프로토타입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F5F0E8"/>
                </a:solidFill>
                <a:latin typeface="맑은 고딕"/>
              </a:defRPr>
            </a:pPr>
            <a:r>
              <a:t>AI 대전(Easy/Medium) + 기본 UI</a:t>
            </a:r>
          </a:p>
          <a:p>
            <a:pPr>
              <a:defRPr sz="1200">
                <a:solidFill>
                  <a:srgbClr val="F5F0E8"/>
                </a:solidFill>
                <a:latin typeface="맑은 고딕"/>
              </a:defRPr>
            </a:pPr>
            <a:r>
              <a:t>+ 튜토리얼 + 친구 대전</a:t>
            </a:r>
          </a:p>
          <a:p>
            <a:pPr>
              <a:defRPr sz="1200">
                <a:solidFill>
                  <a:srgbClr val="F5F0E8"/>
                </a:solidFill>
                <a:latin typeface="맑은 고딕"/>
              </a:defRPr>
            </a:pPr>
          </a:p>
          <a:p>
            <a:pPr>
              <a:defRPr sz="1200">
                <a:solidFill>
                  <a:srgbClr val="F5F0E8"/>
                </a:solidFill>
                <a:latin typeface="맑은 고딕"/>
              </a:defRPr>
            </a:pPr>
            <a:r>
              <a:t>검증: 20명 플레이 테스트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371600"/>
            <a:ext cx="3200400" cy="4114800"/>
          </a:xfrm>
          <a:prstGeom prst="roundRect">
            <a:avLst/>
          </a:prstGeom>
          <a:solidFill>
            <a:srgbClr val="1A3A2A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554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A84C"/>
                </a:solidFill>
                <a:latin typeface="맑은 고딕"/>
              </a:defRPr>
            </a:pPr>
            <a:r>
              <a:t>Phase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103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F0E8"/>
                </a:solidFill>
                <a:latin typeface="맑은 고딕"/>
              </a:defRPr>
            </a:pPr>
            <a:r>
              <a:t>소프트 런치 (한국)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7432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F5F0E8"/>
                </a:solidFill>
                <a:latin typeface="맑은 고딕"/>
              </a:defRPr>
            </a:pPr>
            <a:r>
              <a:t>AI 3단계 + 랭크 매치</a:t>
            </a:r>
          </a:p>
          <a:p>
            <a:pPr>
              <a:defRPr sz="1200">
                <a:solidFill>
                  <a:srgbClr val="F5F0E8"/>
                </a:solidFill>
                <a:latin typeface="맑은 고딕"/>
              </a:defRPr>
            </a:pPr>
            <a:r>
              <a:t>+ 코스메틱 IAP + 배틀패스 v1</a:t>
            </a:r>
          </a:p>
          <a:p>
            <a:pPr>
              <a:defRPr sz="1200">
                <a:solidFill>
                  <a:srgbClr val="F5F0E8"/>
                </a:solidFill>
                <a:latin typeface="맑은 고딕"/>
              </a:defRPr>
            </a:pPr>
          </a:p>
          <a:p>
            <a:pPr>
              <a:defRPr sz="1200">
                <a:solidFill>
                  <a:srgbClr val="F5F0E8"/>
                </a:solidFill>
                <a:latin typeface="맑은 고딕"/>
              </a:defRPr>
            </a:pPr>
            <a:r>
              <a:t>조건: GRAC 심의 사전 협의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371600"/>
            <a:ext cx="3200400" cy="4114800"/>
          </a:xfrm>
          <a:prstGeom prst="roundRect">
            <a:avLst/>
          </a:prstGeom>
          <a:solidFill>
            <a:srgbClr val="1A3A2A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554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A84C"/>
                </a:solidFill>
                <a:latin typeface="맑은 고딕"/>
              </a:defRPr>
            </a:pPr>
            <a: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103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F0E8"/>
                </a:solidFill>
                <a:latin typeface="맑은 고딕"/>
              </a:defRPr>
            </a:pPr>
            <a:r>
              <a:t>정식 출시 (한국)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7432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F5F0E8"/>
                </a:solidFill>
                <a:latin typeface="맑은 고딕"/>
              </a:defRPr>
            </a:pPr>
            <a:r>
              <a:t>GRAC 심의 통과 후 출시</a:t>
            </a:r>
          </a:p>
          <a:p>
            <a:pPr>
              <a:defRPr sz="1200">
                <a:solidFill>
                  <a:srgbClr val="F5F0E8"/>
                </a:solidFill>
                <a:latin typeface="맑은 고딕"/>
              </a:defRPr>
            </a:pPr>
          </a:p>
          <a:p>
            <a:pPr>
              <a:defRPr sz="1200">
                <a:solidFill>
                  <a:srgbClr val="F5F0E8"/>
                </a:solidFill>
                <a:latin typeface="맑은 고딕"/>
              </a:defRPr>
            </a:pPr>
            <a:r>
              <a:t>마케팅: ASO + 포커 커뮤니티</a:t>
            </a:r>
          </a:p>
          <a:p>
            <a:pPr>
              <a:defRPr sz="1200">
                <a:solidFill>
                  <a:srgbClr val="F5F0E8"/>
                </a:solidFill>
                <a:latin typeface="맑은 고딕"/>
              </a:defRPr>
            </a:pPr>
            <a:r>
              <a:t>+ 쇼폼 콘텐츠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926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9A84C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926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9A84C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맑은 고딕"/>
              </a:defRPr>
            </a:pPr>
            <a:r>
              <a:t>한국 국내 전용 서비스  |  Trine(개발) 진입은 S4 기획 패키지 승인 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C9A84C"/>
                </a:solidFill>
                <a:latin typeface="맑은 고딕"/>
              </a:defRPr>
            </a:pPr>
            <a:r>
              <a:t>로우 바둑이 (Low Baduki)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5F0E8"/>
                </a:solidFill>
                <a:latin typeface="맑은 고딕"/>
              </a:defRPr>
            </a:pPr>
            <a:r>
              <a:t>Game Design Document — SIGIL S3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4114800"/>
            <a:ext cx="45720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5F0E8"/>
                </a:solidFill>
                <a:latin typeface="맑은 고딕"/>
              </a:defRPr>
            </a:pPr>
            <a: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맑은 고딕"/>
              </a:defRPr>
            </a:pPr>
            <a:r>
              <a:t>2026-02-27  |  Version 1.0  |  한국 국내 전용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